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  <p:sldMasterId id="2147483660" r:id="rId2"/>
  </p:sldMasterIdLst>
  <p:notesMasterIdLst>
    <p:notesMasterId r:id="rId32"/>
  </p:notesMasterIdLst>
  <p:sldIdLst>
    <p:sldId id="257" r:id="rId3"/>
    <p:sldId id="275" r:id="rId4"/>
    <p:sldId id="361" r:id="rId5"/>
    <p:sldId id="302" r:id="rId6"/>
    <p:sldId id="348" r:id="rId7"/>
    <p:sldId id="322" r:id="rId8"/>
    <p:sldId id="307" r:id="rId9"/>
    <p:sldId id="308" r:id="rId10"/>
    <p:sldId id="309" r:id="rId11"/>
    <p:sldId id="362" r:id="rId12"/>
    <p:sldId id="363" r:id="rId13"/>
    <p:sldId id="364" r:id="rId14"/>
    <p:sldId id="357" r:id="rId15"/>
    <p:sldId id="351" r:id="rId16"/>
    <p:sldId id="311" r:id="rId17"/>
    <p:sldId id="346" r:id="rId18"/>
    <p:sldId id="325" r:id="rId19"/>
    <p:sldId id="326" r:id="rId20"/>
    <p:sldId id="332" r:id="rId21"/>
    <p:sldId id="335" r:id="rId22"/>
    <p:sldId id="367" r:id="rId23"/>
    <p:sldId id="333" r:id="rId24"/>
    <p:sldId id="365" r:id="rId25"/>
    <p:sldId id="366" r:id="rId26"/>
    <p:sldId id="358" r:id="rId27"/>
    <p:sldId id="369" r:id="rId28"/>
    <p:sldId id="324" r:id="rId29"/>
    <p:sldId id="328" r:id="rId30"/>
    <p:sldId id="368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1088" autoAdjust="0"/>
  </p:normalViewPr>
  <p:slideViewPr>
    <p:cSldViewPr snapToGrid="0">
      <p:cViewPr varScale="1">
        <p:scale>
          <a:sx n="72" d="100"/>
          <a:sy n="72" d="100"/>
        </p:scale>
        <p:origin x="9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93734-5313-4EB0-B8B2-4477A1836D3D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FF6D6-ADCE-42B9-AA4F-D62B509B19CC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97433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B3AF-48C9-FE58-8BFA-02B87D9FC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FA52F-8E76-31FF-2624-D8D968132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5AEE2-529D-CBD6-54BB-8EC8FCA62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354EA-3E59-C126-984C-A4A5EA022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79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64F9-38C2-B336-2AB2-00945AF04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06739-4B1A-2CC6-A2D6-F82D3D2EE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FC54D-75E0-A901-D636-1E51769A6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5F199-4C10-C8B0-FB67-5080787D0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4324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A8E2D-C7F4-6F7B-8D8F-E3DB0510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20274-54D2-6B70-F28B-7DE3C8756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0A2B4-92FE-D05E-2291-08D36F780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61E16-6F1F-1AE0-14F4-28290CF08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819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7D04B-E75F-BF0D-9AE9-7786A2308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A4CAC-39BB-0397-CADC-F6BF3B9CA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CD619-7AB3-422C-EB6C-53D2832BF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CE475-8DF1-6193-2300-5FA7063359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791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DA6AF-0147-99EA-51A2-F294E8BD0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0EF57-45F4-5E19-2A56-C12EE99EF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3D86D5-F9B6-E8B9-F428-DF06CE59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Ventajas clave: </a:t>
            </a:r>
            <a:r>
              <a:rPr lang="es-MX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Soporte offline-first para zonas rurales, cifrado TLS 1.3, generación automática de certificados SSL.</a:t>
            </a:r>
          </a:p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9178E-CD3B-79E4-4CC5-CB46D4A2AA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7850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43F9-E19D-94DD-0938-E39E4A541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BE9D4-6140-4CE9-CAB2-F0D3E1FB6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24CEA0-1DEF-BCFD-A7A7-BA5325E57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9C008-3584-A5A5-39B3-3C679B8BD7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831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7814-D4ED-8B2B-594A-026113AE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FACA93-484D-BD8E-198F-849290BF3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C35953-51BB-29FB-8A31-DC51FD267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3738F-31C5-97CB-209A-300C323EB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8209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C5EE6-E947-7B6D-5840-0A9205D0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29E60-091F-D1D4-C8FC-895CD8327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E1FB4-692B-FEF2-10C4-D40E13233E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CE555-1612-2A51-957A-2EDAE6C09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718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71861-28D2-987C-2CBD-A074E60C1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05349-B83C-394C-296C-AF7489344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86E835-3B79-168A-5E9B-BECD4E3BE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DDFF5-F596-2D15-967C-734262D2C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7980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9C507-3CA3-70F3-038A-E85164BD7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A68C8-73AE-D1C8-59D8-E1ECE31E2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349BE-A61F-CE89-7D21-028E15582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CE2BC-094F-6882-6176-5B81C1A4CB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23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9303-D901-2E89-EE12-C803E955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F86D8F-A2E5-A2EA-F083-21F95427E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F53620-8279-2D5B-C270-29DD43470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8CE04-092B-36DB-1A54-796E484F0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26705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8719B-64B6-CD7E-B4B5-69F654D9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71D3A6-476E-4C8B-B109-781BCAFFB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90A8A-7237-69CA-C358-CEE98067DD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BB5E-D8D6-0BDE-0C77-575E35A86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6699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8ED7-3732-C491-D598-B8E05BB94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F49F1-296B-215E-4B27-17DCC27DE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141DA-17DD-63EC-9C04-F44093EFD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C3399-793D-6BA3-5CFD-659B1D86F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312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FEEA-A291-6998-069D-DDAA2F8B7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12652-12B0-8766-9C01-D747BCD0D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8A326-090D-AB2E-3922-D7DE4E68C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968B1-3CB4-7C78-9B14-96524CBBD3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0459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24C0C-FEBD-535F-F7FA-83C2A24A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DEAB3-8677-5AA0-110F-593B1EBE8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C8B06-F222-C0D9-9CEF-F13B20B69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17605-65EB-B2FA-B575-412638CF86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3783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5140-9DE4-997E-E111-EE1A67BE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A4AAF-12F1-1602-C353-E0B41C2A0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8D8DD-DC66-EE96-B18F-A6831928B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E70F0-6D9D-8BBC-7EA2-3343193C9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502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3565-357B-5FCC-77FC-6F235088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F49E94-4C31-BA02-524E-BAE18DB35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EF71B6-998C-492E-30F3-B93C52B99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C62C-1833-500A-87A4-4BCA2D12A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2810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996D1-A29F-D8BA-32E5-495E9954B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8D38E-513D-AB8F-8F4F-FEE9A0DD4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892BF4-E171-4FBD-A00E-156FD8DDC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8C45F-C132-0D14-7243-7CF0891D9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0285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73ECD-F80D-501F-12C2-C9774AD2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BAFE7-6654-3400-01A2-69483A49C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C755B-520B-506B-ADEB-61317E172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F20E0-B4D9-81B9-4A40-FF368F98A4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95216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3341B-8342-9708-D251-F32E940E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FF39D-0774-0DF6-9388-80D0F9BF8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0CAB6-DF04-BBF7-ABC0-8F7B4054F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02CA2-AA0C-EA80-F6BC-FCA8B2F3D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8901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575C1-CAB9-7EA5-4CAE-267D05A6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557E2-F1B2-D3D3-DF9C-AAD9C5506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1F987B-0789-ADEB-36C2-C4E7DD0AE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1829B-D2B4-79CD-C794-F98F1B703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169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48C44-D52C-607A-3709-80D22575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1CEAF-062F-2276-4959-94ADF6190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9F6E0-A0EE-28D9-3E54-DEF4A384E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DDDFB-1891-212B-168D-E5087C06C1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934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36F8F-ED4D-D3E0-CFA5-E0934B317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8814A-20E6-E0A1-D39A-C3A8BED09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511F7E-D91E-7797-F12B-5EF561E51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25A07-76E7-7EF6-BA1B-CCF0B3132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4691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F798-7977-DB5C-CE09-0F4EF71F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7DC4C-BE34-92FD-2217-AE6028666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20EC8-49F1-D10D-6481-724300A66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28A92-E132-351C-32AB-A953B937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9594B3-BDB3-4118-B875-6418B4C36FDF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1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8B6EE-3BEA-EC53-3530-D36EAACC8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42BD9A-DE9B-EBE2-741A-232BFD827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01AE6E-2A31-A9EC-F205-983B2D77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B64789-DB32-95EB-B6CB-BF1A3E378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A5DEC0-E640-F471-0372-CD0058CC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41848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2F971-AACA-6F50-4C84-8B17C1BA5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A71FA6-A30E-5EEB-7D97-FA97A28C7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6CF388-79D5-2497-FAC0-C50C2814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777105-3B3D-4F5C-3351-7655641C0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8C8FAC-0D6A-331A-40C5-01F6A85E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651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02D9A3-9E3A-C838-FDFD-14CA11B0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C51728-D2AB-4230-50D6-926A6899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D5ACDB-219D-D78E-B5A6-3561C1F8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58DC28-F6CF-B490-9522-940E049C3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AD51A0-88FF-AEF0-BC98-2A6BD1CB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170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1F872-3F9F-4E09-0D16-6C06E4D6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BAE479-6142-C58F-4215-21E6A62EDC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E16A2B-24A6-43D9-F2FC-2C569D3E1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6A704A-7173-AE56-7392-05988939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6422FA-341A-3722-6954-D0669E306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95F65D-6E22-BB37-CC72-6D67A722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266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7A159-9471-12B4-D0D1-BF1F21F3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54E1B6-B285-AEE2-3AD2-D660A41DC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AA66401-BD4F-1E99-8B09-A8697623D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0C0182-D4A2-036B-CB7E-617969740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AA416C6-7C97-5326-AE9C-8EB90836EE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D62BAA0-9743-62CF-9454-4D269B00B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C98FC6-BF07-97B4-1DEA-4A976381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AAA1E60-71EF-9439-77A6-A93AE97A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8031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E35F4-EDFF-0A62-D3F4-1D8B631C7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BC48A79-48AE-5136-CFD2-58560CA2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1568D49-724F-D13F-41C3-22D4A5E3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02069A-8A5A-1CA8-BEF4-62445278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336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A7A51CB-B964-C6F8-C234-11D51B6F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B481C39-FF2A-5EA7-F529-701EA75CD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C63D3D-96C2-6E3D-E5D8-0D0805D1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211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6A352-1523-88ED-8908-00EE4B49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2FAFC8-B7D8-22BD-9308-FA365CB0C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57FD91-1BD0-3869-F80C-D8F56F96E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DE87A6-AD80-A3AD-510B-1D35F30F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AA74F-30F6-FB24-0728-361AF48C7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2AE9F6-2C6E-DD5C-546B-BE4547088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626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835C1-2353-CD60-02AD-DA03C3CAE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696944-CCD1-339F-BDE1-AA80B1F02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8D9E61-A9B7-B21E-B3BF-0E78419FF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78FB96-00B2-0E78-4EE2-37889B7FD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0AE758-FA86-9B70-F113-0003086CA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796AD7-32F4-3FFA-8322-F2611F37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6556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9C997-63F6-5434-088A-F9070536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2BD016-EAE0-0EED-DAAF-DEEB53B4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9CD27D-ACD8-A14B-7200-7DB50EFA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8660FE-F8F6-61C0-954C-48B5FA612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F7A207-2E45-AA78-AE32-57E2C9F9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3113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480B29B-8936-A788-E2A4-0FF66752E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B7B9DC-BF44-DE44-0419-82DACFFF44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AD66C7-E236-9B39-8802-AA67F11F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F5CAB0-C471-034B-146E-15F3A1B08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7F2251-07A6-E875-45FF-77EA127FB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29884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91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1324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25185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8602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55608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72346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0558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9137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9873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56476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292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DBADF6-905C-A59D-E575-B9EB0B54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64776A-D883-D942-A976-98032455A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86113D-D5DB-667B-75FA-AE478356B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5BAA9-4BE1-4D38-8415-B5EFB4B0743A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D8DAEB-25FE-2ACB-DC41-75E7DF35B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72859A-B08D-E558-B361-F4BF40051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64E4B-EEB6-4130-B144-E4D74C03466D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771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02/07/2025</a:t>
            </a:fld>
            <a:endParaRPr lang="es-ES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1168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image" Target="../media/image13.jpe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 de texto 2"/>
          <p:cNvSpPr txBox="1">
            <a:spLocks noChangeArrowheads="1"/>
          </p:cNvSpPr>
          <p:nvPr/>
        </p:nvSpPr>
        <p:spPr bwMode="auto">
          <a:xfrm>
            <a:off x="524532" y="3530378"/>
            <a:ext cx="11142936" cy="70201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1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Título: Sistema Informático para la Gestión de Contratos Determinados y Pagos por Sobrecarga Docente en el Departamento de Informática de la Universidad de Pinar del Río</a:t>
            </a:r>
          </a:p>
        </p:txBody>
      </p:sp>
      <p:sp>
        <p:nvSpPr>
          <p:cNvPr id="7" name="Cuadro de texto 2"/>
          <p:cNvSpPr txBox="1">
            <a:spLocks noChangeArrowheads="1"/>
          </p:cNvSpPr>
          <p:nvPr/>
        </p:nvSpPr>
        <p:spPr bwMode="auto">
          <a:xfrm>
            <a:off x="1437398" y="4662663"/>
            <a:ext cx="5959082" cy="89205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Autor(es):   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Amanda Beatriz Herrera Rodríguez</a:t>
            </a:r>
          </a:p>
          <a:p>
            <a:pPr marL="0" marR="0" lvl="0" indent="0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</a:t>
            </a:r>
            <a:r>
              <a:rPr lang="es-ES" sz="20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  <a:r>
              <a:rPr kumimoji="0" lang="es-E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Yosvany Hernández Quintero</a:t>
            </a:r>
          </a:p>
          <a:p>
            <a:pPr marL="0" marR="0" lvl="0" indent="0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s-ES" sz="26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yriad Pro Cond"/>
              <a:ea typeface="Calibri" panose="020F05020202040302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Cuadro de texto 2"/>
          <p:cNvSpPr txBox="1">
            <a:spLocks noChangeArrowheads="1"/>
          </p:cNvSpPr>
          <p:nvPr/>
        </p:nvSpPr>
        <p:spPr bwMode="auto">
          <a:xfrm>
            <a:off x="3583373" y="6215109"/>
            <a:ext cx="5025254" cy="590266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Pinar del Río, 2025</a:t>
            </a:r>
            <a:endParaRPr lang="es-ES" sz="1600" noProof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“Año 67 de la Revolución”</a:t>
            </a:r>
            <a:endParaRPr kumimoji="0" lang="es-ES" sz="1600" b="1" i="0" u="none" strike="noStrike" kern="100" cap="none" spc="0" normalizeH="0" baseline="0" noProof="0" dirty="0">
              <a:ln>
                <a:noFill/>
              </a:ln>
              <a:solidFill>
                <a:srgbClr val="11622F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Times New Roman" panose="02020603050405020304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00" cap="none" spc="0" normalizeH="0" baseline="0" noProof="0" dirty="0">
                <a:ln>
                  <a:noFill/>
                </a:ln>
                <a:solidFill>
                  <a:srgbClr val="11622F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Times New Roman" panose="02020603050405020304"/>
              </a:rPr>
              <a:t>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198795-DB2B-046B-4B57-74D6D9068EAA}"/>
              </a:ext>
            </a:extLst>
          </p:cNvPr>
          <p:cNvSpPr txBox="1"/>
          <p:nvPr/>
        </p:nvSpPr>
        <p:spPr>
          <a:xfrm>
            <a:off x="1437398" y="5533964"/>
            <a:ext cx="5025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Tutor: MsC. Ricardo Inouye Rodríguez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1BD96B-5583-1216-1C7C-3A3037FD76CE}"/>
              </a:ext>
            </a:extLst>
          </p:cNvPr>
          <p:cNvSpPr txBox="1"/>
          <p:nvPr/>
        </p:nvSpPr>
        <p:spPr>
          <a:xfrm>
            <a:off x="2981325" y="1825268"/>
            <a:ext cx="6229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noProof="0" dirty="0">
                <a:latin typeface="Arial" panose="020B0604020202020204" pitchFamily="34" charset="0"/>
                <a:cs typeface="Times New Roman" panose="02020603050405020304" pitchFamily="18" charset="0"/>
              </a:rPr>
              <a:t>Facultad de Ciencias Técnicas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B055181-D064-9EB1-7CA8-65668394C31E}"/>
              </a:ext>
            </a:extLst>
          </p:cNvPr>
          <p:cNvSpPr txBox="1"/>
          <p:nvPr/>
        </p:nvSpPr>
        <p:spPr>
          <a:xfrm>
            <a:off x="4217515" y="2367565"/>
            <a:ext cx="37569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noProof="0" dirty="0">
                <a:latin typeface="Arial" panose="020B0604020202020204" pitchFamily="34" charset="0"/>
                <a:cs typeface="Times New Roman" panose="02020603050405020304" pitchFamily="18" charset="0"/>
              </a:rPr>
              <a:t>Departamento de Informática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1BB23D8-F196-932B-05E6-D6E753D0D4CD}"/>
              </a:ext>
            </a:extLst>
          </p:cNvPr>
          <p:cNvSpPr txBox="1"/>
          <p:nvPr/>
        </p:nvSpPr>
        <p:spPr>
          <a:xfrm>
            <a:off x="1632423" y="2643788"/>
            <a:ext cx="9420725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es-ES" sz="2000" b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Tesis presentada en opción al Título Académico de</a:t>
            </a:r>
            <a:r>
              <a:rPr lang="es-ES" sz="2000" noProof="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sz="2000" b="1" noProof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Ingeniero en Informática </a:t>
            </a:r>
            <a:endParaRPr lang="es-ES" sz="20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 advClick="0">
        <p15:prstTrans prst="curtains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8475A6D2-9136-9C1E-5D16-1A816A66A36F}"/>
              </a:ext>
            </a:extLst>
          </p:cNvPr>
          <p:cNvSpPr/>
          <p:nvPr/>
        </p:nvSpPr>
        <p:spPr>
          <a:xfrm>
            <a:off x="675515" y="429402"/>
            <a:ext cx="23615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C98FD4B-9A52-23CD-DDEE-93FD6434EC13}"/>
              </a:ext>
            </a:extLst>
          </p:cNvPr>
          <p:cNvSpPr txBox="1"/>
          <p:nvPr/>
        </p:nvSpPr>
        <p:spPr>
          <a:xfrm>
            <a:off x="675515" y="1123409"/>
            <a:ext cx="10812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Presentar un sistema informático diseñado para la </a:t>
            </a:r>
            <a:r>
              <a:rPr lang="es-E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gestión de contratos determinados</a:t>
            </a:r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24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pagos por sobrecarga docente</a:t>
            </a:r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 el Departamento de Informática de la Universidad de Pinar del Río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BEE067-C236-185C-2B17-1B4CC1631E95}"/>
              </a:ext>
            </a:extLst>
          </p:cNvPr>
          <p:cNvSpPr txBox="1"/>
          <p:nvPr/>
        </p:nvSpPr>
        <p:spPr>
          <a:xfrm>
            <a:off x="675515" y="3942213"/>
            <a:ext cx="10530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Aumentar la eficiencia administrativa.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Reducir errores en la gestión.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Facilitar el acceso a información relevante para la toma de decisiones.</a:t>
            </a: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BF334A0-A03E-359B-8863-F2C24C7F1792}"/>
              </a:ext>
            </a:extLst>
          </p:cNvPr>
          <p:cNvSpPr txBox="1"/>
          <p:nvPr/>
        </p:nvSpPr>
        <p:spPr>
          <a:xfrm>
            <a:off x="4036921" y="2499910"/>
            <a:ext cx="4112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ES"/>
            </a:defPPr>
            <a:lvl1pPr>
              <a:defRPr sz="2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Beneficios del Sistema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60E03EE-62E9-9F42-B0C1-4387B93D6DBB}"/>
              </a:ext>
            </a:extLst>
          </p:cNvPr>
          <p:cNvSpPr txBox="1"/>
          <p:nvPr/>
        </p:nvSpPr>
        <p:spPr>
          <a:xfrm>
            <a:off x="675515" y="3480548"/>
            <a:ext cx="60932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Mejoras Esperadas: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4F18-FC9F-7898-F113-A4CC36F9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>
            <a:extLst>
              <a:ext uri="{FF2B5EF4-FFF2-40B4-BE49-F238E27FC236}">
                <a16:creationId xmlns:a16="http://schemas.microsoft.com/office/drawing/2014/main" id="{9059E9D3-4B2A-9D46-FC15-4844DA0C13AE}"/>
              </a:ext>
            </a:extLst>
          </p:cNvPr>
          <p:cNvSpPr/>
          <p:nvPr/>
        </p:nvSpPr>
        <p:spPr>
          <a:xfrm>
            <a:off x="1169809" y="429402"/>
            <a:ext cx="9852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Situación Problemática del Departamento de Informática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4ECB488-5A7D-3CFD-72B8-E7BDB68FB4DD}"/>
              </a:ext>
            </a:extLst>
          </p:cNvPr>
          <p:cNvSpPr txBox="1"/>
          <p:nvPr/>
        </p:nvSpPr>
        <p:spPr>
          <a:xfrm>
            <a:off x="675515" y="952622"/>
            <a:ext cx="10840964" cy="334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 el Departamento de Informática se identifican oportunidades de optimización en la </a:t>
            </a:r>
            <a:r>
              <a:rPr lang="es-E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gestión</a:t>
            </a: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es-ES" sz="2400" b="1" i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contratos determinados</a:t>
            </a: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y </a:t>
            </a:r>
            <a:r>
              <a:rPr lang="es-ES" sz="2400" b="1" i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pagos por sobrecarga docente</a:t>
            </a: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Los procesos actuales, predominantemente </a:t>
            </a:r>
            <a:r>
              <a:rPr lang="es-E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manuales</a:t>
            </a:r>
            <a:r>
              <a:rPr lang="es-ES" sz="2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pueden generar desafíos operativos que impactan tanto a los profesores como al equipo administrativo, requiriendo esfuerzos adicionales para garantizar precisión en los resultados.</a:t>
            </a:r>
            <a:endParaRPr lang="es-ES" sz="2400" dirty="0"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732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C735-1A4A-98E9-338A-30E4164C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650B245-46F5-C804-1F34-6964C4920FC9}"/>
              </a:ext>
            </a:extLst>
          </p:cNvPr>
          <p:cNvSpPr txBox="1"/>
          <p:nvPr/>
        </p:nvSpPr>
        <p:spPr>
          <a:xfrm>
            <a:off x="1159963" y="2604506"/>
            <a:ext cx="2865116" cy="31393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¿Cómo contribuir a la gestión de la información asociada a la gestión de contratos determinados y el procesamiento de pagos por sobrecarga docente en el Departamento de Informática de la Universidad de Pinar del Río?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1C9B06A-F925-6F49-8B5A-CF9BD6E62301}"/>
              </a:ext>
            </a:extLst>
          </p:cNvPr>
          <p:cNvSpPr txBox="1"/>
          <p:nvPr/>
        </p:nvSpPr>
        <p:spPr>
          <a:xfrm>
            <a:off x="4557617" y="2604506"/>
            <a:ext cx="2865121" cy="2031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gestión de contratos determinados y los pagos por sobrecarga docente en el Departamento de Informática de la Universidad de Pinar del Río.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7FC3E56-54B9-B573-8438-F5D805C209FA}"/>
              </a:ext>
            </a:extLst>
          </p:cNvPr>
          <p:cNvSpPr txBox="1"/>
          <p:nvPr/>
        </p:nvSpPr>
        <p:spPr>
          <a:xfrm>
            <a:off x="7955276" y="2604506"/>
            <a:ext cx="2865123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Desarrollar una aplicación informática que permita la gestión de la información asociada a la gestión de contratos determinados y el procesamiento de pagos por sobrecarga docente en el Departamento de Informática de la Universidad de Pinar del Río.</a:t>
            </a:r>
            <a:endParaRPr lang="es-E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lobo: flecha hacia abajo 9">
            <a:extLst>
              <a:ext uri="{FF2B5EF4-FFF2-40B4-BE49-F238E27FC236}">
                <a16:creationId xmlns:a16="http://schemas.microsoft.com/office/drawing/2014/main" id="{D5DCD7E0-35DE-FA50-82D6-799EA9A9DBB4}"/>
              </a:ext>
            </a:extLst>
          </p:cNvPr>
          <p:cNvSpPr/>
          <p:nvPr/>
        </p:nvSpPr>
        <p:spPr>
          <a:xfrm>
            <a:off x="1159963" y="539685"/>
            <a:ext cx="2865120" cy="1965960"/>
          </a:xfrm>
          <a:prstGeom prst="downArrowCallou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Problema Científico</a:t>
            </a:r>
          </a:p>
        </p:txBody>
      </p:sp>
      <p:sp>
        <p:nvSpPr>
          <p:cNvPr id="11" name="Globo: flecha hacia abajo 10">
            <a:extLst>
              <a:ext uri="{FF2B5EF4-FFF2-40B4-BE49-F238E27FC236}">
                <a16:creationId xmlns:a16="http://schemas.microsoft.com/office/drawing/2014/main" id="{26D60BA2-946A-CCBE-6488-1D06CA8598AA}"/>
              </a:ext>
            </a:extLst>
          </p:cNvPr>
          <p:cNvSpPr/>
          <p:nvPr/>
        </p:nvSpPr>
        <p:spPr>
          <a:xfrm>
            <a:off x="4557621" y="539685"/>
            <a:ext cx="2865120" cy="1965960"/>
          </a:xfrm>
          <a:prstGeom prst="downArrowCallou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Objeto de Investigación</a:t>
            </a:r>
          </a:p>
        </p:txBody>
      </p:sp>
      <p:sp>
        <p:nvSpPr>
          <p:cNvPr id="13" name="Globo: flecha hacia abajo 12">
            <a:extLst>
              <a:ext uri="{FF2B5EF4-FFF2-40B4-BE49-F238E27FC236}">
                <a16:creationId xmlns:a16="http://schemas.microsoft.com/office/drawing/2014/main" id="{4F7F4C71-73DF-54E0-0E41-6D3C9A8BF71B}"/>
              </a:ext>
            </a:extLst>
          </p:cNvPr>
          <p:cNvSpPr/>
          <p:nvPr/>
        </p:nvSpPr>
        <p:spPr>
          <a:xfrm>
            <a:off x="7955279" y="539685"/>
            <a:ext cx="2865120" cy="1965960"/>
          </a:xfrm>
          <a:prstGeom prst="downArrowCallou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Objetivo General</a:t>
            </a:r>
          </a:p>
        </p:txBody>
      </p:sp>
    </p:spTree>
    <p:extLst>
      <p:ext uri="{BB962C8B-B14F-4D97-AF65-F5344CB8AC3E}">
        <p14:creationId xmlns:p14="http://schemas.microsoft.com/office/powerpoint/2010/main" val="429308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9" grpId="0" animBg="1"/>
      <p:bldP spid="10" grpId="0" animBg="1"/>
      <p:bldP spid="1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E188E-5DB9-865F-8DD4-90A6543CF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0D4E567-E0DD-6DBA-5F59-BDC9FE79F263}"/>
              </a:ext>
            </a:extLst>
          </p:cNvPr>
          <p:cNvCxnSpPr>
            <a:cxnSpLocks/>
          </p:cNvCxnSpPr>
          <p:nvPr/>
        </p:nvCxnSpPr>
        <p:spPr>
          <a:xfrm>
            <a:off x="568036" y="2757556"/>
            <a:ext cx="1105592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F35BC0AA-2AB0-10FC-19EB-C610DDBCE2A4}"/>
              </a:ext>
            </a:extLst>
          </p:cNvPr>
          <p:cNvGrpSpPr/>
          <p:nvPr/>
        </p:nvGrpSpPr>
        <p:grpSpPr>
          <a:xfrm>
            <a:off x="872837" y="1143422"/>
            <a:ext cx="1230284" cy="1614134"/>
            <a:chOff x="1080654" y="808445"/>
            <a:chExt cx="1230284" cy="1614134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21059565-61BD-F613-36CA-032C6E52E7A1}"/>
                </a:ext>
              </a:extLst>
            </p:cNvPr>
            <p:cNvSpPr/>
            <p:nvPr/>
          </p:nvSpPr>
          <p:spPr>
            <a:xfrm>
              <a:off x="1080654" y="808445"/>
              <a:ext cx="1230284" cy="120032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77DEB0F9-7185-12CA-BECA-D4230AB6E574}"/>
                </a:ext>
              </a:extLst>
            </p:cNvPr>
            <p:cNvCxnSpPr>
              <a:stCxn id="7" idx="4"/>
            </p:cNvCxnSpPr>
            <p:nvPr/>
          </p:nvCxnSpPr>
          <p:spPr>
            <a:xfrm>
              <a:off x="1695796" y="2008774"/>
              <a:ext cx="0" cy="413805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AA0689F-DE17-A69D-674C-62C48F0842FD}"/>
              </a:ext>
            </a:extLst>
          </p:cNvPr>
          <p:cNvGrpSpPr/>
          <p:nvPr/>
        </p:nvGrpSpPr>
        <p:grpSpPr>
          <a:xfrm>
            <a:off x="3040320" y="1143422"/>
            <a:ext cx="1230284" cy="1614134"/>
            <a:chOff x="1080654" y="808445"/>
            <a:chExt cx="1230284" cy="1614134"/>
          </a:xfrm>
        </p:grpSpPr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BB38ECE7-B4F6-44A9-7B9D-1E9046F2C82E}"/>
                </a:ext>
              </a:extLst>
            </p:cNvPr>
            <p:cNvSpPr/>
            <p:nvPr/>
          </p:nvSpPr>
          <p:spPr>
            <a:xfrm>
              <a:off x="1080654" y="808445"/>
              <a:ext cx="1230284" cy="120032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8CA211C-E173-A97B-C235-6874C2CBB7B5}"/>
                </a:ext>
              </a:extLst>
            </p:cNvPr>
            <p:cNvCxnSpPr>
              <a:stCxn id="15" idx="4"/>
            </p:cNvCxnSpPr>
            <p:nvPr/>
          </p:nvCxnSpPr>
          <p:spPr>
            <a:xfrm>
              <a:off x="1695796" y="2008774"/>
              <a:ext cx="0" cy="413805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BFDE8D9-C2AA-A832-1183-2D13C5278472}"/>
              </a:ext>
            </a:extLst>
          </p:cNvPr>
          <p:cNvGrpSpPr/>
          <p:nvPr/>
        </p:nvGrpSpPr>
        <p:grpSpPr>
          <a:xfrm>
            <a:off x="5167120" y="1143422"/>
            <a:ext cx="1230284" cy="1614134"/>
            <a:chOff x="1080654" y="808445"/>
            <a:chExt cx="1230284" cy="1614134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9A9A3E81-1B3D-8740-1A74-288EA5425585}"/>
                </a:ext>
              </a:extLst>
            </p:cNvPr>
            <p:cNvSpPr/>
            <p:nvPr/>
          </p:nvSpPr>
          <p:spPr>
            <a:xfrm>
              <a:off x="1080654" y="808445"/>
              <a:ext cx="1230284" cy="120032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A16E42E2-9A19-9B01-A226-56ACA8A2A4B8}"/>
                </a:ext>
              </a:extLst>
            </p:cNvPr>
            <p:cNvCxnSpPr>
              <a:stCxn id="18" idx="4"/>
            </p:cNvCxnSpPr>
            <p:nvPr/>
          </p:nvCxnSpPr>
          <p:spPr>
            <a:xfrm>
              <a:off x="1695796" y="2008774"/>
              <a:ext cx="0" cy="413805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DC5ADF2-BC32-E25A-9954-1B3AEE36C91E}"/>
              </a:ext>
            </a:extLst>
          </p:cNvPr>
          <p:cNvGrpSpPr/>
          <p:nvPr/>
        </p:nvGrpSpPr>
        <p:grpSpPr>
          <a:xfrm>
            <a:off x="7733621" y="1143422"/>
            <a:ext cx="1230284" cy="1614134"/>
            <a:chOff x="1080654" y="808445"/>
            <a:chExt cx="1230284" cy="1614134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EFF8827-B2ED-9D22-41AC-CC436048D672}"/>
                </a:ext>
              </a:extLst>
            </p:cNvPr>
            <p:cNvSpPr/>
            <p:nvPr/>
          </p:nvSpPr>
          <p:spPr>
            <a:xfrm>
              <a:off x="1080654" y="808445"/>
              <a:ext cx="1230284" cy="120032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4E50C5E8-9A21-080D-4569-01047DECB9AD}"/>
                </a:ext>
              </a:extLst>
            </p:cNvPr>
            <p:cNvCxnSpPr>
              <a:stCxn id="21" idx="4"/>
            </p:cNvCxnSpPr>
            <p:nvPr/>
          </p:nvCxnSpPr>
          <p:spPr>
            <a:xfrm>
              <a:off x="1695796" y="2008774"/>
              <a:ext cx="0" cy="413805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11">
            <a:extLst>
              <a:ext uri="{FF2B5EF4-FFF2-40B4-BE49-F238E27FC236}">
                <a16:creationId xmlns:a16="http://schemas.microsoft.com/office/drawing/2014/main" id="{0103D17B-319B-398D-2669-67504BC384CD}"/>
              </a:ext>
            </a:extLst>
          </p:cNvPr>
          <p:cNvSpPr/>
          <p:nvPr/>
        </p:nvSpPr>
        <p:spPr>
          <a:xfrm>
            <a:off x="568036" y="2805416"/>
            <a:ext cx="22776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Analizar el contexto actual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1039654-7BFB-5B81-7296-7ACD3E9D4276}"/>
              </a:ext>
            </a:extLst>
          </p:cNvPr>
          <p:cNvSpPr txBox="1"/>
          <p:nvPr/>
        </p:nvSpPr>
        <p:spPr>
          <a:xfrm>
            <a:off x="548522" y="3684272"/>
            <a:ext cx="20449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Revisión de la literatura sobre gestión de contratos y sistemas de información, con el fin de establecer un marco teórico sólido que respalde la investigación.</a:t>
            </a:r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2B756F2A-A7C0-7FF8-3BFC-2DFD0076E6FC}"/>
              </a:ext>
            </a:extLst>
          </p:cNvPr>
          <p:cNvSpPr/>
          <p:nvPr/>
        </p:nvSpPr>
        <p:spPr>
          <a:xfrm>
            <a:off x="2738350" y="2805416"/>
            <a:ext cx="17691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la metodología y herramientas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3C399DD-D079-D9CD-BA2B-6DF6F7262D81}"/>
              </a:ext>
            </a:extLst>
          </p:cNvPr>
          <p:cNvSpPr txBox="1"/>
          <p:nvPr/>
        </p:nvSpPr>
        <p:spPr>
          <a:xfrm>
            <a:off x="2728593" y="3684272"/>
            <a:ext cx="182678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Análisis de los procesos actuales de gestión en el departamento, identificando fortalezas, debilidades y áreas de mejora.</a:t>
            </a: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D46C64CA-8668-BA97-A20D-4704D6E612A9}"/>
              </a:ext>
            </a:extLst>
          </p:cNvPr>
          <p:cNvSpPr/>
          <p:nvPr/>
        </p:nvSpPr>
        <p:spPr>
          <a:xfrm>
            <a:off x="4754198" y="2805415"/>
            <a:ext cx="227768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Modelar el sistema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026DE9A-FB88-AAC6-2031-E4197B4F223B}"/>
              </a:ext>
            </a:extLst>
          </p:cNvPr>
          <p:cNvSpPr txBox="1"/>
          <p:nvPr/>
        </p:nvSpPr>
        <p:spPr>
          <a:xfrm>
            <a:off x="4725795" y="3636413"/>
            <a:ext cx="22776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Diseño del sistema informático, considerando las necesidades del usuario y los requisitos funcionales y no funcionales del sistema.</a:t>
            </a:r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C999C9C9-CAF9-6E45-DE9C-818F685DDB32}"/>
              </a:ext>
            </a:extLst>
          </p:cNvPr>
          <p:cNvSpPr/>
          <p:nvPr/>
        </p:nvSpPr>
        <p:spPr>
          <a:xfrm>
            <a:off x="7138572" y="2763561"/>
            <a:ext cx="24508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el sistema informático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C860470-B966-338C-52A3-CB39CC1AD014}"/>
              </a:ext>
            </a:extLst>
          </p:cNvPr>
          <p:cNvSpPr txBox="1"/>
          <p:nvPr/>
        </p:nvSpPr>
        <p:spPr>
          <a:xfrm>
            <a:off x="7126794" y="3636412"/>
            <a:ext cx="22776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Desarrollo e implementación del sistema, asegurando que se cumplan los estándares de calidad y se integre adecuadamente en el entorno operativo.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52B3A90-AB9E-317C-4DB8-31D2A91B7EAE}"/>
              </a:ext>
            </a:extLst>
          </p:cNvPr>
          <p:cNvSpPr/>
          <p:nvPr/>
        </p:nvSpPr>
        <p:spPr>
          <a:xfrm>
            <a:off x="3905413" y="365875"/>
            <a:ext cx="40763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Tareas de la investigación 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EB73D518-DF77-5F48-95E1-6C92162AA11F}"/>
              </a:ext>
            </a:extLst>
          </p:cNvPr>
          <p:cNvGrpSpPr/>
          <p:nvPr/>
        </p:nvGrpSpPr>
        <p:grpSpPr>
          <a:xfrm>
            <a:off x="10146458" y="1143422"/>
            <a:ext cx="1230284" cy="1614134"/>
            <a:chOff x="1080654" y="808445"/>
            <a:chExt cx="1230284" cy="1614134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67924F99-C50C-B9C6-8892-D954D4DD51A4}"/>
                </a:ext>
              </a:extLst>
            </p:cNvPr>
            <p:cNvSpPr/>
            <p:nvPr/>
          </p:nvSpPr>
          <p:spPr>
            <a:xfrm>
              <a:off x="1080654" y="808445"/>
              <a:ext cx="1230284" cy="1200329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4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s-E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91C73B02-D328-42F2-11F6-316B47A25362}"/>
                </a:ext>
              </a:extLst>
            </p:cNvPr>
            <p:cNvCxnSpPr>
              <a:stCxn id="4" idx="4"/>
            </p:cNvCxnSpPr>
            <p:nvPr/>
          </p:nvCxnSpPr>
          <p:spPr>
            <a:xfrm>
              <a:off x="1695796" y="2008774"/>
              <a:ext cx="0" cy="413805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11">
            <a:extLst>
              <a:ext uri="{FF2B5EF4-FFF2-40B4-BE49-F238E27FC236}">
                <a16:creationId xmlns:a16="http://schemas.microsoft.com/office/drawing/2014/main" id="{FC4EBE3A-6BCE-15CF-A55F-3E0078C8F5B3}"/>
              </a:ext>
            </a:extLst>
          </p:cNvPr>
          <p:cNvSpPr/>
          <p:nvPr/>
        </p:nvSpPr>
        <p:spPr>
          <a:xfrm>
            <a:off x="9634534" y="2763561"/>
            <a:ext cx="19062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Realizar pruebas y validaciones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4FCC69C-EEAC-8E11-3AD7-8C26C0F95519}"/>
              </a:ext>
            </a:extLst>
          </p:cNvPr>
          <p:cNvSpPr txBox="1"/>
          <p:nvPr/>
        </p:nvSpPr>
        <p:spPr>
          <a:xfrm>
            <a:off x="9622756" y="3636412"/>
            <a:ext cx="189248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Ejecución de pruebas utilizando datos reales en el software para verificar su correcto funcionamiento y validar su eficacia en la gestión de contratos.</a:t>
            </a:r>
          </a:p>
        </p:txBody>
      </p:sp>
    </p:spTree>
    <p:extLst>
      <p:ext uri="{BB962C8B-B14F-4D97-AF65-F5344CB8AC3E}">
        <p14:creationId xmlns:p14="http://schemas.microsoft.com/office/powerpoint/2010/main" val="293224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2BF5-3C52-6148-4D48-976EDCBD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70BA81E-E192-E0F1-D4D2-FB5BA6FA8ECF}"/>
              </a:ext>
            </a:extLst>
          </p:cNvPr>
          <p:cNvSpPr/>
          <p:nvPr/>
        </p:nvSpPr>
        <p:spPr>
          <a:xfrm>
            <a:off x="875606" y="197151"/>
            <a:ext cx="25521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Sistemas Afines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5DA8D6D-4AFC-3667-0B29-78ACC1F97D54}"/>
              </a:ext>
            </a:extLst>
          </p:cNvPr>
          <p:cNvSpPr txBox="1"/>
          <p:nvPr/>
        </p:nvSpPr>
        <p:spPr>
          <a:xfrm>
            <a:off x="875606" y="819361"/>
            <a:ext cx="9975274" cy="1029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Sistemas como SAP ERP, Moodle + Plugins y ContratApp, ofrecen soluciones de gestión, pero son costosos y no están adaptados a las necesidades específicas del departamento, justificando una solución personalizada.</a:t>
            </a:r>
            <a:endParaRPr lang="es-ES" sz="18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E36B9C0-B56F-3BDB-3954-3D03E48AE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128052"/>
              </p:ext>
            </p:extLst>
          </p:nvPr>
        </p:nvGraphicFramePr>
        <p:xfrm>
          <a:off x="2133599" y="2163413"/>
          <a:ext cx="7834432" cy="167965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05300">
                  <a:extLst>
                    <a:ext uri="{9D8B030D-6E8A-4147-A177-3AD203B41FA5}">
                      <a16:colId xmlns:a16="http://schemas.microsoft.com/office/drawing/2014/main" val="2004513303"/>
                    </a:ext>
                  </a:extLst>
                </a:gridCol>
                <a:gridCol w="2225632">
                  <a:extLst>
                    <a:ext uri="{9D8B030D-6E8A-4147-A177-3AD203B41FA5}">
                      <a16:colId xmlns:a16="http://schemas.microsoft.com/office/drawing/2014/main" val="2900763156"/>
                    </a:ext>
                  </a:extLst>
                </a:gridCol>
                <a:gridCol w="3503500">
                  <a:extLst>
                    <a:ext uri="{9D8B030D-6E8A-4147-A177-3AD203B41FA5}">
                      <a16:colId xmlns:a16="http://schemas.microsoft.com/office/drawing/2014/main" val="1367676270"/>
                    </a:ext>
                  </a:extLst>
                </a:gridCol>
              </a:tblGrid>
              <a:tr h="30845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46799" marT="46799" marB="4679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Fortalezas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E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Limitaciones en contexto cubano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extLst>
                  <a:ext uri="{0D108BD9-81ED-4DB2-BD59-A6C34878D82A}">
                    <a16:rowId xmlns:a16="http://schemas.microsoft.com/office/drawing/2014/main" val="490707012"/>
                  </a:ext>
                </a:extLst>
              </a:tr>
              <a:tr h="3237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SAP ERP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Módulo financiero robusto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 prohibitivo (USD 50,000+/año)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extLst>
                  <a:ext uri="{0D108BD9-81ED-4DB2-BD59-A6C34878D82A}">
                    <a16:rowId xmlns:a16="http://schemas.microsoft.com/office/drawing/2014/main" val="3184759217"/>
                  </a:ext>
                </a:extLst>
              </a:tr>
              <a:tr h="3084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Moodle + Plugins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Familiaridad del personal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soporta firma digital ni cálculos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extLst>
                  <a:ext uri="{0D108BD9-81ED-4DB2-BD59-A6C34878D82A}">
                    <a16:rowId xmlns:a16="http://schemas.microsoft.com/office/drawing/2014/main" val="1006584380"/>
                  </a:ext>
                </a:extLst>
              </a:tr>
              <a:tr h="5574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ContratApp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Especializado en contratos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lang="es-E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adaptable a leyes laborales cubanas</a:t>
                      </a:r>
                      <a:endParaRPr lang="es-ES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6799" marR="46799" marT="46799" marB="46799" anchor="ctr"/>
                </a:tc>
                <a:extLst>
                  <a:ext uri="{0D108BD9-81ED-4DB2-BD59-A6C34878D82A}">
                    <a16:rowId xmlns:a16="http://schemas.microsoft.com/office/drawing/2014/main" val="1162181554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B79F1804-5EAF-CE3D-3CCD-6265DC35B125}"/>
              </a:ext>
            </a:extLst>
          </p:cNvPr>
          <p:cNvSpPr txBox="1"/>
          <p:nvPr/>
        </p:nvSpPr>
        <p:spPr>
          <a:xfrm>
            <a:off x="959197" y="4157355"/>
            <a:ext cx="10273606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U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Decisión Justificada</a:t>
            </a:r>
            <a:r>
              <a:rPr lang="es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Desarrollar un sistema ad-hoc es la única opción viable, dado que las alternativas existentes: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0725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resuelven el 60% de las necesidades identificadas en el diagnóstico.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20725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U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Implicarían inversiones incompatibles con el presupuesto institucional.</a:t>
            </a:r>
            <a:endParaRPr lang="es-ES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15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8057-7256-12B7-C33C-960C71FC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2D514AD-DD99-0E06-93C7-9016DE379D0F}"/>
              </a:ext>
            </a:extLst>
          </p:cNvPr>
          <p:cNvSpPr/>
          <p:nvPr/>
        </p:nvSpPr>
        <p:spPr>
          <a:xfrm>
            <a:off x="182880" y="395466"/>
            <a:ext cx="117541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Metodología, Tecnologías y Herramientas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3A50D0A-8C83-723A-CBBF-A66B2B346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3" t="9135" r="30424" b="9329"/>
          <a:stretch/>
        </p:blipFill>
        <p:spPr>
          <a:xfrm>
            <a:off x="6585592" y="1268037"/>
            <a:ext cx="1202191" cy="1265928"/>
          </a:xfrm>
          <a:prstGeom prst="rect">
            <a:avLst/>
          </a:prstGeom>
        </p:spPr>
      </p:pic>
      <p:sp>
        <p:nvSpPr>
          <p:cNvPr id="9" name="1 CuadroTexto">
            <a:extLst>
              <a:ext uri="{FF2B5EF4-FFF2-40B4-BE49-F238E27FC236}">
                <a16:creationId xmlns:a16="http://schemas.microsoft.com/office/drawing/2014/main" id="{752049F7-EB68-E1F2-24B2-0379A70DE210}"/>
              </a:ext>
            </a:extLst>
          </p:cNvPr>
          <p:cNvSpPr txBox="1"/>
          <p:nvPr/>
        </p:nvSpPr>
        <p:spPr>
          <a:xfrm>
            <a:off x="723646" y="2912710"/>
            <a:ext cx="1834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Metodología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10 CuadroTexto">
            <a:extLst>
              <a:ext uri="{FF2B5EF4-FFF2-40B4-BE49-F238E27FC236}">
                <a16:creationId xmlns:a16="http://schemas.microsoft.com/office/drawing/2014/main" id="{B0D73A65-23C2-5B96-934D-B91157F7E71B}"/>
              </a:ext>
            </a:extLst>
          </p:cNvPr>
          <p:cNvSpPr txBox="1"/>
          <p:nvPr/>
        </p:nvSpPr>
        <p:spPr>
          <a:xfrm>
            <a:off x="3237441" y="2899490"/>
            <a:ext cx="2408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Modelar </a:t>
            </a:r>
            <a:r>
              <a:rPr lang="es-E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diagramas 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12 CuadroTexto">
            <a:extLst>
              <a:ext uri="{FF2B5EF4-FFF2-40B4-BE49-F238E27FC236}">
                <a16:creationId xmlns:a16="http://schemas.microsoft.com/office/drawing/2014/main" id="{70F92389-7B91-9B58-4CC1-37E63D10A68A}"/>
              </a:ext>
            </a:extLst>
          </p:cNvPr>
          <p:cNvSpPr txBox="1"/>
          <p:nvPr/>
        </p:nvSpPr>
        <p:spPr>
          <a:xfrm>
            <a:off x="5877001" y="2879450"/>
            <a:ext cx="2619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Construir diagramas</a:t>
            </a:r>
          </a:p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Estimación del Costo del Software </a:t>
            </a:r>
          </a:p>
        </p:txBody>
      </p:sp>
      <p:sp>
        <p:nvSpPr>
          <p:cNvPr id="13" name="14 CuadroTexto">
            <a:extLst>
              <a:ext uri="{FF2B5EF4-FFF2-40B4-BE49-F238E27FC236}">
                <a16:creationId xmlns:a16="http://schemas.microsoft.com/office/drawing/2014/main" id="{5604B2A5-A37F-EE67-1AB0-BED944E3CAA9}"/>
              </a:ext>
            </a:extLst>
          </p:cNvPr>
          <p:cNvSpPr txBox="1"/>
          <p:nvPr/>
        </p:nvSpPr>
        <p:spPr>
          <a:xfrm>
            <a:off x="3030487" y="4851829"/>
            <a:ext cx="2753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Arquitectura: Flutter Web Framework</a:t>
            </a: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(Frontend)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3 Rectángulo">
            <a:extLst>
              <a:ext uri="{FF2B5EF4-FFF2-40B4-BE49-F238E27FC236}">
                <a16:creationId xmlns:a16="http://schemas.microsoft.com/office/drawing/2014/main" id="{84059E2C-C7F5-C96A-AE5C-B0C22861DFEB}"/>
              </a:ext>
            </a:extLst>
          </p:cNvPr>
          <p:cNvSpPr/>
          <p:nvPr/>
        </p:nvSpPr>
        <p:spPr>
          <a:xfrm>
            <a:off x="1054196" y="5070852"/>
            <a:ext cx="12502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Lenguaje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6 Rectángulo">
            <a:extLst>
              <a:ext uri="{FF2B5EF4-FFF2-40B4-BE49-F238E27FC236}">
                <a16:creationId xmlns:a16="http://schemas.microsoft.com/office/drawing/2014/main" id="{29EF3D3E-9141-BE02-DC84-DF09FAED1FAB}"/>
              </a:ext>
            </a:extLst>
          </p:cNvPr>
          <p:cNvSpPr/>
          <p:nvPr/>
        </p:nvSpPr>
        <p:spPr>
          <a:xfrm>
            <a:off x="8944105" y="2448910"/>
            <a:ext cx="20481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Editor de código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4AB739-48C7-0CB4-C275-BB1E728EC654}"/>
              </a:ext>
            </a:extLst>
          </p:cNvPr>
          <p:cNvSpPr/>
          <p:nvPr/>
        </p:nvSpPr>
        <p:spPr>
          <a:xfrm>
            <a:off x="5579506" y="2533965"/>
            <a:ext cx="3322982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Enterprise Architect versión 16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48D2135-34D9-D11C-FFB1-7723A3CA3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326" y="3736893"/>
            <a:ext cx="1205688" cy="111493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5B5A298-B77E-2FCA-9A1A-9A7DD1876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138" y="1027821"/>
            <a:ext cx="2048161" cy="145752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6F3D3F26-77E6-2D5C-8BB1-30ADD533C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079" y="3598493"/>
            <a:ext cx="1250235" cy="1457528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08D125B0-F2B7-BB0A-8E1D-62E039FB87CF}"/>
              </a:ext>
            </a:extLst>
          </p:cNvPr>
          <p:cNvSpPr txBox="1"/>
          <p:nvPr/>
        </p:nvSpPr>
        <p:spPr>
          <a:xfrm>
            <a:off x="6189587" y="5591049"/>
            <a:ext cx="2103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Automatización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1094853F-81D1-1A48-DBFE-3BD47D3F1E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321" y="1007809"/>
            <a:ext cx="2392146" cy="1736072"/>
          </a:xfrm>
          <a:prstGeom prst="rect">
            <a:avLst/>
          </a:prstGeom>
        </p:spPr>
      </p:pic>
      <p:pic>
        <p:nvPicPr>
          <p:cNvPr id="36" name="Imagen 35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78C27541-3C1E-CCF6-5708-B45B0A8B41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97" y="1362655"/>
            <a:ext cx="2275193" cy="1516795"/>
          </a:xfrm>
          <a:prstGeom prst="rect">
            <a:avLst/>
          </a:prstGeom>
        </p:spPr>
      </p:pic>
      <p:pic>
        <p:nvPicPr>
          <p:cNvPr id="38" name="Imagen 37" descr="Logotipo&#10;&#10;El contenido generado por IA puede ser incorrecto.">
            <a:extLst>
              <a:ext uri="{FF2B5EF4-FFF2-40B4-BE49-F238E27FC236}">
                <a16:creationId xmlns:a16="http://schemas.microsoft.com/office/drawing/2014/main" id="{4ABEDD79-3858-BCB1-514F-4AB7633854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13" y="3800384"/>
            <a:ext cx="1051445" cy="1051445"/>
          </a:xfrm>
          <a:prstGeom prst="rect">
            <a:avLst/>
          </a:prstGeom>
        </p:spPr>
      </p:pic>
      <p:pic>
        <p:nvPicPr>
          <p:cNvPr id="40" name="Gráfico 39">
            <a:extLst>
              <a:ext uri="{FF2B5EF4-FFF2-40B4-BE49-F238E27FC236}">
                <a16:creationId xmlns:a16="http://schemas.microsoft.com/office/drawing/2014/main" id="{A05D7604-38FD-90E7-48CB-329C1BC1F2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6759" y="4258134"/>
            <a:ext cx="1404595" cy="1404595"/>
          </a:xfrm>
          <a:prstGeom prst="rect">
            <a:avLst/>
          </a:prstGeom>
        </p:spPr>
      </p:pic>
      <p:pic>
        <p:nvPicPr>
          <p:cNvPr id="42" name="Imagen 41" descr="Icono&#10;&#10;El contenido generado por IA puede ser incorrecto.">
            <a:extLst>
              <a:ext uri="{FF2B5EF4-FFF2-40B4-BE49-F238E27FC236}">
                <a16:creationId xmlns:a16="http://schemas.microsoft.com/office/drawing/2014/main" id="{CDE7B112-7065-4ABD-4E6C-D4CA4406FC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13" y="3904457"/>
            <a:ext cx="1678589" cy="944206"/>
          </a:xfrm>
          <a:prstGeom prst="rect">
            <a:avLst/>
          </a:prstGeom>
        </p:spPr>
      </p:pic>
      <p:pic>
        <p:nvPicPr>
          <p:cNvPr id="44" name="Imagen 43" descr="Logotipo&#10;&#10;El contenido generado por IA puede ser incorrecto.">
            <a:extLst>
              <a:ext uri="{FF2B5EF4-FFF2-40B4-BE49-F238E27FC236}">
                <a16:creationId xmlns:a16="http://schemas.microsoft.com/office/drawing/2014/main" id="{DBB576B0-054F-C52C-6D98-73398972C2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344" y="3856041"/>
            <a:ext cx="1448794" cy="978352"/>
          </a:xfrm>
          <a:prstGeom prst="rect">
            <a:avLst/>
          </a:prstGeom>
        </p:spPr>
      </p:pic>
      <p:pic>
        <p:nvPicPr>
          <p:cNvPr id="3" name="Imagen 2" descr="Imagen que contiene dibujo, plato&#10;&#10;El contenido generado por IA puede ser incorrecto.">
            <a:extLst>
              <a:ext uri="{FF2B5EF4-FFF2-40B4-BE49-F238E27FC236}">
                <a16:creationId xmlns:a16="http://schemas.microsoft.com/office/drawing/2014/main" id="{4F2080D7-5B85-F966-C5E2-8AEB8C6E34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400" y="4953895"/>
            <a:ext cx="2182976" cy="59410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05F98C4-1C14-4DBD-8116-0A150145D4CE}"/>
              </a:ext>
            </a:extLst>
          </p:cNvPr>
          <p:cNvSpPr txBox="1"/>
          <p:nvPr/>
        </p:nvSpPr>
        <p:spPr>
          <a:xfrm>
            <a:off x="9032511" y="5018956"/>
            <a:ext cx="13923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(Backend)</a:t>
            </a: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F94E319F-9E13-6C90-1E6E-F69EE76C88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33285" y="3822298"/>
            <a:ext cx="1404595" cy="8591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958D250-048C-297C-B71D-EA84208609B3}"/>
              </a:ext>
            </a:extLst>
          </p:cNvPr>
          <p:cNvSpPr txBox="1"/>
          <p:nvPr/>
        </p:nvSpPr>
        <p:spPr>
          <a:xfrm>
            <a:off x="8640876" y="5547996"/>
            <a:ext cx="3289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Gestor de Base de Datos</a:t>
            </a:r>
          </a:p>
        </p:txBody>
      </p:sp>
    </p:spTree>
    <p:extLst>
      <p:ext uri="{BB962C8B-B14F-4D97-AF65-F5344CB8AC3E}">
        <p14:creationId xmlns:p14="http://schemas.microsoft.com/office/powerpoint/2010/main" val="3158783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26DC-6301-3A53-CA87-63440DDF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4DC8C7C-B8B0-AAC0-57CE-7CE9F0B2CAB4}"/>
              </a:ext>
            </a:extLst>
          </p:cNvPr>
          <p:cNvSpPr/>
          <p:nvPr/>
        </p:nvSpPr>
        <p:spPr>
          <a:xfrm>
            <a:off x="4544132" y="158010"/>
            <a:ext cx="31037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Modelo del Dominio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F5CCB3E-D1A3-41B0-565A-418A52465A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944" y="619675"/>
            <a:ext cx="2854186" cy="5139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3242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342A5-F4DF-2EFA-A977-759681127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FDFC74C-9963-055D-7E05-A2A0835CEAA6}"/>
              </a:ext>
            </a:extLst>
          </p:cNvPr>
          <p:cNvSpPr/>
          <p:nvPr/>
        </p:nvSpPr>
        <p:spPr>
          <a:xfrm>
            <a:off x="3253563" y="1403598"/>
            <a:ext cx="5443869" cy="440944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E7358B9-A1C9-CBE9-D039-7ABB25E9F5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113523"/>
              </p:ext>
            </p:extLst>
          </p:nvPr>
        </p:nvGraphicFramePr>
        <p:xfrm>
          <a:off x="3601297" y="1403599"/>
          <a:ext cx="6720338" cy="4409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20338">
                  <a:extLst>
                    <a:ext uri="{9D8B030D-6E8A-4147-A177-3AD203B41FA5}">
                      <a16:colId xmlns:a16="http://schemas.microsoft.com/office/drawing/2014/main" val="1344186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RF1. Iniciar Sesión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119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RF2. Cerrar Sesión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719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RF3. Modificar Contraseña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112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RF4. Gestionar Usuario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063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RF5. Gestión de Contratos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311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RF6. Gestión de Profesores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68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RF7. Dashboard Interactivo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607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ES" sz="180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RF8. Soporte Técnico</a:t>
                      </a:r>
                      <a:endParaRPr lang="es-ES" sz="1800" dirty="0"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95250" marT="95250" marB="9525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116707"/>
                  </a:ext>
                </a:extLst>
              </a:tr>
            </a:tbl>
          </a:graphicData>
        </a:graphic>
      </p:graphicFrame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4C495E66-C288-488A-F52E-082B782BA36D}"/>
              </a:ext>
            </a:extLst>
          </p:cNvPr>
          <p:cNvSpPr/>
          <p:nvPr/>
        </p:nvSpPr>
        <p:spPr>
          <a:xfrm>
            <a:off x="3474491" y="757249"/>
            <a:ext cx="4914193" cy="54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D07545-D219-4FC3-C94E-547D4B2B00EF}"/>
              </a:ext>
            </a:extLst>
          </p:cNvPr>
          <p:cNvSpPr/>
          <p:nvPr/>
        </p:nvSpPr>
        <p:spPr>
          <a:xfrm>
            <a:off x="3474491" y="757249"/>
            <a:ext cx="44396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Requerimientos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Funcionales</a:t>
            </a:r>
            <a:endParaRPr lang="es-E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E5882EE5-867E-2838-1A68-B63EE72C16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5785" y="2986921"/>
            <a:ext cx="1585014" cy="107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07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72C8F-9145-A766-9C43-3D2E2E76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485FFFA-5913-687C-FEED-D5DFA3A42AF2}"/>
              </a:ext>
            </a:extLst>
          </p:cNvPr>
          <p:cNvSpPr/>
          <p:nvPr/>
        </p:nvSpPr>
        <p:spPr>
          <a:xfrm>
            <a:off x="2532075" y="1449876"/>
            <a:ext cx="7127850" cy="4347237"/>
          </a:xfrm>
          <a:prstGeom prst="roundRect">
            <a:avLst>
              <a:gd name="adj" fmla="val 1127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70CF4D3-7F01-6CAC-DC0D-18BF24B95A8E}"/>
              </a:ext>
            </a:extLst>
          </p:cNvPr>
          <p:cNvSpPr txBox="1"/>
          <p:nvPr/>
        </p:nvSpPr>
        <p:spPr>
          <a:xfrm>
            <a:off x="2856495" y="1613917"/>
            <a:ext cx="6803430" cy="373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29"/>
              </a:spcBef>
              <a:spcAft>
                <a:spcPts val="3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Interfaz y Diseño</a:t>
            </a:r>
            <a:endParaRPr lang="es-E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lvl="1" indent="-163513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Interfaz intuitiva y accesible</a:t>
            </a:r>
          </a:p>
          <a:p>
            <a:pPr marL="355600" lvl="1" indent="-163513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Diseño responsivo para todos los dispositivos</a:t>
            </a:r>
          </a:p>
          <a:p>
            <a:pPr marL="355600" lvl="1" indent="-163513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Estética profesional y consistente</a:t>
            </a:r>
          </a:p>
          <a:p>
            <a:pPr marL="355600" lvl="1" indent="-163513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Cumplimiento de estándares WCAG 2.1 de accesibilidad web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Usabilidad</a:t>
            </a:r>
            <a:endParaRPr lang="es-E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lvl="1" indent="-173038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v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Flujos de trabajo optimizados (tareas clave en pocos pasos)</a:t>
            </a:r>
          </a:p>
          <a:p>
            <a:pPr marL="355600" lvl="1" indent="-173038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v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Retroalimentación clara para el usuario</a:t>
            </a:r>
          </a:p>
          <a:p>
            <a:pPr marL="355600" lvl="1" indent="-173038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v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Documentación y manuales de apoyo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2A10918-E340-9971-5040-D4E3FD5D0D72}"/>
              </a:ext>
            </a:extLst>
          </p:cNvPr>
          <p:cNvSpPr/>
          <p:nvPr/>
        </p:nvSpPr>
        <p:spPr>
          <a:xfrm>
            <a:off x="3656014" y="615475"/>
            <a:ext cx="4879970" cy="54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87AB2B8F-8465-ED19-739D-3839533E0806}"/>
              </a:ext>
            </a:extLst>
          </p:cNvPr>
          <p:cNvSpPr/>
          <p:nvPr/>
        </p:nvSpPr>
        <p:spPr>
          <a:xfrm>
            <a:off x="3656014" y="618879"/>
            <a:ext cx="4879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Requerimientos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No Funcionales</a:t>
            </a:r>
            <a:endParaRPr lang="es-E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4220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54B00-047B-8068-7FC2-F1CAB0455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2AD28F1-569C-70F7-F867-531EF12E0D6D}"/>
              </a:ext>
            </a:extLst>
          </p:cNvPr>
          <p:cNvSpPr/>
          <p:nvPr/>
        </p:nvSpPr>
        <p:spPr>
          <a:xfrm>
            <a:off x="691116" y="1520456"/>
            <a:ext cx="10809769" cy="4301224"/>
          </a:xfrm>
          <a:prstGeom prst="roundRect">
            <a:avLst>
              <a:gd name="adj" fmla="val 1127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5CC599-807D-BAF9-414B-AFDFE18F9260}"/>
              </a:ext>
            </a:extLst>
          </p:cNvPr>
          <p:cNvSpPr txBox="1"/>
          <p:nvPr/>
        </p:nvSpPr>
        <p:spPr>
          <a:xfrm>
            <a:off x="946299" y="1579470"/>
            <a:ext cx="10554586" cy="4183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Rendimiento</a:t>
            </a:r>
            <a:endParaRPr lang="es-ES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Tiempo de respuesta: ≤2 segundos (login), ≤10 segundos (exportar Excel con 500 registros)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Soporte para múltiples usuarios concurrentes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Optimización mediante caché y paginación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Escalabilidad para crecimiento futuro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4"/>
            </a:pPr>
            <a:r>
              <a:rPr lang="es-ES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Seguridad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Autenticación</a:t>
            </a: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Bcrypt + JWT.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Control de acceso</a:t>
            </a: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RBAC (Administrador/Profesor/Empleado).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Auditoría</a:t>
            </a: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Registro de logs con Winston.</a:t>
            </a:r>
          </a:p>
          <a:p>
            <a:pPr marL="712788" lvl="1" indent="-530225" algn="l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ü"/>
            </a:pPr>
            <a:r>
              <a:rPr lang="es-ES" b="1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Cifrado</a:t>
            </a:r>
            <a:r>
              <a:rPr lang="es-ES" b="0" i="0" dirty="0">
                <a:solidFill>
                  <a:srgbClr val="40404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TLS 1.3 (OpenSSL).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D615FCC0-43D9-A4D3-29CA-9FD94DE43801}"/>
              </a:ext>
            </a:extLst>
          </p:cNvPr>
          <p:cNvSpPr/>
          <p:nvPr/>
        </p:nvSpPr>
        <p:spPr>
          <a:xfrm>
            <a:off x="3656014" y="615475"/>
            <a:ext cx="4879970" cy="54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19B0961-EA8E-24FE-2EB6-19876CA80440}"/>
              </a:ext>
            </a:extLst>
          </p:cNvPr>
          <p:cNvSpPr/>
          <p:nvPr/>
        </p:nvSpPr>
        <p:spPr>
          <a:xfrm>
            <a:off x="3656014" y="618879"/>
            <a:ext cx="4879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Requerimientos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No Funcionales</a:t>
            </a:r>
            <a:endParaRPr lang="es-E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79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9B26-FB0F-D905-20F6-B25E3FA56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2FD4579-0291-060C-F24B-FF1713A2654D}"/>
              </a:ext>
            </a:extLst>
          </p:cNvPr>
          <p:cNvSpPr/>
          <p:nvPr/>
        </p:nvSpPr>
        <p:spPr>
          <a:xfrm>
            <a:off x="691116" y="1520456"/>
            <a:ext cx="10809769" cy="2169042"/>
          </a:xfrm>
          <a:prstGeom prst="roundRect">
            <a:avLst>
              <a:gd name="adj" fmla="val 1127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EAC5757-A95E-3506-1C78-9B8C877D9A3F}"/>
              </a:ext>
            </a:extLst>
          </p:cNvPr>
          <p:cNvSpPr txBox="1"/>
          <p:nvPr/>
        </p:nvSpPr>
        <p:spPr>
          <a:xfrm>
            <a:off x="946299" y="1579470"/>
            <a:ext cx="10554586" cy="2652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5"/>
            </a:pPr>
            <a:r>
              <a:rPr lang="es-ES" b="1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Fiabilidad</a:t>
            </a:r>
            <a:endParaRPr lang="es-ES" dirty="0">
              <a:solidFill>
                <a:srgbClr val="40404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5600" lvl="1" indent="-173038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§"/>
            </a:pPr>
            <a:r>
              <a:rPr lang="es-ES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Alta disponibilidad (99.5% uptime)</a:t>
            </a:r>
          </a:p>
          <a:p>
            <a:pPr marL="355600" lvl="1" indent="-173038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§"/>
            </a:pPr>
            <a:r>
              <a:rPr lang="es-ES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de backups automáticos diarios</a:t>
            </a:r>
          </a:p>
          <a:p>
            <a:pPr marL="355600" lvl="1" indent="-173038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§"/>
            </a:pPr>
            <a:r>
              <a:rPr lang="es-ES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Procesos de recuperación rápida (≤1 hora)</a:t>
            </a:r>
          </a:p>
          <a:p>
            <a:pPr marL="355600" lvl="1" indent="-173038">
              <a:spcBef>
                <a:spcPts val="300"/>
              </a:spcBef>
              <a:spcAft>
                <a:spcPts val="1029"/>
              </a:spcAft>
              <a:buFont typeface="Wingdings" panose="05000000000000000000" pitchFamily="2" charset="2"/>
              <a:buChar char="§"/>
            </a:pPr>
            <a:r>
              <a:rPr lang="es-ES" dirty="0">
                <a:solidFill>
                  <a:srgbClr val="40404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Pruebas exhaustivas (unitarias, estrés y validación)</a:t>
            </a:r>
          </a:p>
          <a:p>
            <a:pPr marL="228600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3"/>
            </a:pPr>
            <a:endParaRPr lang="es-ES" sz="2800" b="0" i="0" dirty="0">
              <a:solidFill>
                <a:srgbClr val="40404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4687F2A-9961-51CB-5257-7FCABD23422E}"/>
              </a:ext>
            </a:extLst>
          </p:cNvPr>
          <p:cNvSpPr/>
          <p:nvPr/>
        </p:nvSpPr>
        <p:spPr>
          <a:xfrm>
            <a:off x="3656014" y="615475"/>
            <a:ext cx="4879970" cy="5419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6CB731E-2ECF-293F-7DEB-CF1470D05BD0}"/>
              </a:ext>
            </a:extLst>
          </p:cNvPr>
          <p:cNvSpPr/>
          <p:nvPr/>
        </p:nvSpPr>
        <p:spPr>
          <a:xfrm>
            <a:off x="3656014" y="618879"/>
            <a:ext cx="48799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Requerimientos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 No Funcionales</a:t>
            </a:r>
            <a:endParaRPr lang="es-ES" sz="24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509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C617E-3A0F-DBA0-A382-5A5F3412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C55E75D-FEEC-39E7-6782-5FFADCA60E35}"/>
              </a:ext>
            </a:extLst>
          </p:cNvPr>
          <p:cNvSpPr/>
          <p:nvPr/>
        </p:nvSpPr>
        <p:spPr>
          <a:xfrm>
            <a:off x="3136215" y="130829"/>
            <a:ext cx="5949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Diagrama de Casos de Uso del Sistema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70161A-2585-7E4C-1285-638DB7E2C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0" y="578568"/>
            <a:ext cx="10830559" cy="527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23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0907D-D861-5354-D15C-89D14E86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36A910C-6E27-547C-E14A-1B63523A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24" y="833649"/>
            <a:ext cx="6689436" cy="5030769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B89B1F76-FC7A-1E17-A93B-73870A033946}"/>
              </a:ext>
            </a:extLst>
          </p:cNvPr>
          <p:cNvSpPr/>
          <p:nvPr/>
        </p:nvSpPr>
        <p:spPr>
          <a:xfrm>
            <a:off x="635924" y="167163"/>
            <a:ext cx="10885517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Estimación del Costo del Software Total</a:t>
            </a: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, Enterprise Architect, versión 16</a:t>
            </a:r>
            <a:endParaRPr kumimoji="0" lang="es-E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01E9D-596B-621C-9256-128F39AD3990}"/>
              </a:ext>
            </a:extLst>
          </p:cNvPr>
          <p:cNvSpPr txBox="1"/>
          <p:nvPr/>
        </p:nvSpPr>
        <p:spPr>
          <a:xfrm>
            <a:off x="8371378" y="648983"/>
            <a:ext cx="2584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372"/>
              </a:spcBef>
              <a:spcAft>
                <a:spcPts val="1029"/>
              </a:spcAft>
            </a:pPr>
            <a:r>
              <a:rPr lang="es-ES" b="1" i="0" dirty="0">
                <a:solidFill>
                  <a:srgbClr val="404040"/>
                </a:solidFill>
                <a:effectLst/>
                <a:latin typeface="quote-cjk-patch"/>
              </a:rPr>
              <a:t>Distribución del Esfuerzo</a:t>
            </a:r>
            <a:endParaRPr lang="es-E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E45BED-B6FD-3754-1120-1AF9099743FD}"/>
              </a:ext>
            </a:extLst>
          </p:cNvPr>
          <p:cNvSpPr txBox="1"/>
          <p:nvPr/>
        </p:nvSpPr>
        <p:spPr>
          <a:xfrm>
            <a:off x="7325360" y="1118343"/>
            <a:ext cx="190777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s-ES" b="1" i="0" dirty="0">
                <a:solidFill>
                  <a:srgbClr val="404040"/>
                </a:solidFill>
                <a:effectLst/>
                <a:latin typeface="quote-cjk-patch"/>
              </a:rPr>
              <a:t>a) Por actividades</a:t>
            </a:r>
            <a:endParaRPr lang="es-E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0F3C794A-A5E6-05A6-D37A-7EDF770B8876}"/>
              </a:ext>
            </a:extLst>
          </p:cNvPr>
          <p:cNvGraphicFramePr>
            <a:graphicFrameLocks noGrp="1"/>
          </p:cNvGraphicFramePr>
          <p:nvPr/>
        </p:nvGraphicFramePr>
        <p:xfrm>
          <a:off x="7753580" y="1487674"/>
          <a:ext cx="3767861" cy="2236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081">
                  <a:extLst>
                    <a:ext uri="{9D8B030D-6E8A-4147-A177-3AD203B41FA5}">
                      <a16:colId xmlns:a16="http://schemas.microsoft.com/office/drawing/2014/main" val="464028759"/>
                    </a:ext>
                  </a:extLst>
                </a:gridCol>
                <a:gridCol w="1245173">
                  <a:extLst>
                    <a:ext uri="{9D8B030D-6E8A-4147-A177-3AD203B41FA5}">
                      <a16:colId xmlns:a16="http://schemas.microsoft.com/office/drawing/2014/main" val="2698568915"/>
                    </a:ext>
                  </a:extLst>
                </a:gridCol>
                <a:gridCol w="1002607">
                  <a:extLst>
                    <a:ext uri="{9D8B030D-6E8A-4147-A177-3AD203B41FA5}">
                      <a16:colId xmlns:a16="http://schemas.microsoft.com/office/drawing/2014/main" val="2251962574"/>
                    </a:ext>
                  </a:extLst>
                </a:gridCol>
              </a:tblGrid>
              <a:tr h="559107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Actividad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Esfuerzo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Horas-Hombre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6094454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Análisis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682.500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36218252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Diseño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682.500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48233170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Implementación</a:t>
                      </a:r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1,365.000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32231374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Pruebas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511.875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53993705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Otros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170.625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11937663"/>
                  </a:ext>
                </a:extLst>
              </a:tr>
              <a:tr h="279553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3,412.50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29766252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7B325F38-9F40-A3F1-EA08-C50D231577C0}"/>
              </a:ext>
            </a:extLst>
          </p:cNvPr>
          <p:cNvSpPr txBox="1"/>
          <p:nvPr/>
        </p:nvSpPr>
        <p:spPr>
          <a:xfrm>
            <a:off x="7366924" y="3925707"/>
            <a:ext cx="1824643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43"/>
              </a:lnSpc>
              <a:spcBef>
                <a:spcPts val="1372"/>
              </a:spcBef>
              <a:spcAft>
                <a:spcPts val="1029"/>
              </a:spcAft>
            </a:pPr>
            <a:r>
              <a:rPr lang="es-ES" b="1" i="0" dirty="0">
                <a:solidFill>
                  <a:srgbClr val="404040"/>
                </a:solidFill>
                <a:effectLst/>
                <a:latin typeface="quote-cjk-patch"/>
              </a:rPr>
              <a:t>b) Por fases RUP</a:t>
            </a:r>
            <a:endParaRPr lang="es-ES" b="0" i="0" dirty="0">
              <a:solidFill>
                <a:srgbClr val="404040"/>
              </a:solidFill>
              <a:effectLst/>
              <a:latin typeface="quote-cjk-patch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5BBEB8F-A195-BB00-EF8C-41E32BB935B9}"/>
              </a:ext>
            </a:extLst>
          </p:cNvPr>
          <p:cNvGraphicFramePr>
            <a:graphicFrameLocks noGrp="1"/>
          </p:cNvGraphicFramePr>
          <p:nvPr/>
        </p:nvGraphicFramePr>
        <p:xfrm>
          <a:off x="7753580" y="4387371"/>
          <a:ext cx="3767861" cy="14649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0081">
                  <a:extLst>
                    <a:ext uri="{9D8B030D-6E8A-4147-A177-3AD203B41FA5}">
                      <a16:colId xmlns:a16="http://schemas.microsoft.com/office/drawing/2014/main" val="231693844"/>
                    </a:ext>
                  </a:extLst>
                </a:gridCol>
                <a:gridCol w="1245173">
                  <a:extLst>
                    <a:ext uri="{9D8B030D-6E8A-4147-A177-3AD203B41FA5}">
                      <a16:colId xmlns:a16="http://schemas.microsoft.com/office/drawing/2014/main" val="3940209451"/>
                    </a:ext>
                  </a:extLst>
                </a:gridCol>
                <a:gridCol w="1002607">
                  <a:extLst>
                    <a:ext uri="{9D8B030D-6E8A-4147-A177-3AD203B41FA5}">
                      <a16:colId xmlns:a16="http://schemas.microsoft.com/office/drawing/2014/main" val="902792802"/>
                    </a:ext>
                  </a:extLst>
                </a:gridCol>
              </a:tblGrid>
              <a:tr h="418569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Fase RUP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Esfuerzo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Horas-Hombre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28440967"/>
                  </a:ext>
                </a:extLst>
              </a:tr>
              <a:tr h="20928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Concepción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170.625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15776048"/>
                  </a:ext>
                </a:extLst>
              </a:tr>
              <a:tr h="20928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Elaboración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682.500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87548766"/>
                  </a:ext>
                </a:extLst>
              </a:tr>
              <a:tr h="20928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Construcción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2,218.125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90593726"/>
                  </a:ext>
                </a:extLst>
              </a:tr>
              <a:tr h="20928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Transición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  <a:endParaRPr lang="es-ES" sz="1200" b="0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0" i="0" u="none" strike="noStrike" dirty="0">
                          <a:solidFill>
                            <a:srgbClr val="40404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341.250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386728"/>
                  </a:ext>
                </a:extLst>
              </a:tr>
              <a:tr h="209285"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s-E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3,412.50</a:t>
                      </a:r>
                      <a:endParaRPr lang="es-ES" sz="1200" b="1" i="0" u="none" strike="noStrike" dirty="0"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50207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3086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0EEB-EC74-8473-5856-6FEFD5E1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Texto 15">
            <a:extLst>
              <a:ext uri="{FF2B5EF4-FFF2-40B4-BE49-F238E27FC236}">
                <a16:creationId xmlns:a16="http://schemas.microsoft.com/office/drawing/2014/main" id="{6F74ECB7-D33B-A42B-E3EA-4F0EAA65E50D}"/>
              </a:ext>
            </a:extLst>
          </p:cNvPr>
          <p:cNvSpPr txBox="1"/>
          <p:nvPr/>
        </p:nvSpPr>
        <p:spPr>
          <a:xfrm>
            <a:off x="1111116" y="709943"/>
            <a:ext cx="2695999" cy="10215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Factor de conversión (FC):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H/H por PCUA</a:t>
            </a:r>
            <a:endParaRPr lang="es-ES" b="1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249F09C-A24B-A702-7CF4-36FAEA666B00}"/>
              </a:ext>
            </a:extLst>
          </p:cNvPr>
          <p:cNvSpPr/>
          <p:nvPr/>
        </p:nvSpPr>
        <p:spPr>
          <a:xfrm>
            <a:off x="7680883" y="627220"/>
            <a:ext cx="4355725" cy="474119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BAC5E-5365-53A6-A358-DC4B76FB7B38}"/>
              </a:ext>
            </a:extLst>
          </p:cNvPr>
          <p:cNvSpPr/>
          <p:nvPr/>
        </p:nvSpPr>
        <p:spPr>
          <a:xfrm>
            <a:off x="2218175" y="187318"/>
            <a:ext cx="775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Esfuerzo, tiempo de desarrollo y costo del proyecto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CD4A5EDC-E3D5-DC8E-FB4C-14A817DD716A}"/>
                  </a:ext>
                </a:extLst>
              </p:cNvPr>
              <p:cNvSpPr/>
              <p:nvPr/>
            </p:nvSpPr>
            <p:spPr>
              <a:xfrm>
                <a:off x="5619255" y="3503313"/>
                <a:ext cx="1986190" cy="1826546"/>
              </a:xfrm>
              <a:prstGeom prst="ellipse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US" b="1" dirty="0"/>
                  <a:t>Costo total (CT)</a:t>
                </a:r>
              </a:p>
              <a:p>
                <a:pPr algn="ctr"/>
                <a:r>
                  <a:rPr lang="es-ES" sz="1800" b="1" dirty="0">
                    <a:effectLst/>
                    <a:latin typeface="Arial" panose="020B060402020202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$</a:t>
                </a:r>
                <a14:m>
                  <m:oMath xmlns:m="http://schemas.openxmlformats.org/officeDocument/2006/math">
                    <m:r>
                      <a:rPr lang="es-E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>
                        <a:latin typeface="Cambria Math" panose="02040503050406030204" pitchFamily="18" charset="0"/>
                      </a:rPr>
                      <m:t>30,712.50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2" name="Elipse 1">
                <a:extLst>
                  <a:ext uri="{FF2B5EF4-FFF2-40B4-BE49-F238E27FC236}">
                    <a16:creationId xmlns:a16="http://schemas.microsoft.com/office/drawing/2014/main" id="{CD4A5EDC-E3D5-DC8E-FB4C-14A817DD71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255" y="3503313"/>
                <a:ext cx="1986190" cy="182654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3E506C9-6529-B4E0-39F9-EC301E923319}"/>
                  </a:ext>
                </a:extLst>
              </p:cNvPr>
              <p:cNvSpPr txBox="1"/>
              <p:nvPr/>
            </p:nvSpPr>
            <p:spPr>
              <a:xfrm>
                <a:off x="7898677" y="5500287"/>
                <a:ext cx="4201997" cy="1279783"/>
              </a:xfrm>
              <a:prstGeom prst="roundRect">
                <a:avLst/>
              </a:prstGeom>
              <a:gradFill flip="none" rotWithShape="1">
                <a:gsLst>
                  <a:gs pos="0">
                    <a:schemeClr val="accent6">
                      <a:lumMod val="67000"/>
                    </a:schemeClr>
                  </a:gs>
                  <a:gs pos="48000">
                    <a:schemeClr val="accent6">
                      <a:lumMod val="97000"/>
                      <a:lumOff val="3000"/>
                    </a:schemeClr>
                  </a:gs>
                  <a:gs pos="100000">
                    <a:schemeClr val="accent6">
                      <a:lumMod val="60000"/>
                      <a:lumOff val="40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𝑪𝑻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𝑬𝑻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𝑪𝑯𝑯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412.50 </m:t>
                      </m:r>
                      <m:f>
                        <m:f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ES" b="0" i="0">
                          <a:latin typeface="Cambria Math" panose="02040503050406030204" pitchFamily="18" charset="0"/>
                        </a:rPr>
                        <m:t>×9.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𝟎𝟎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$/</m:t>
                      </m:r>
                      <m:r>
                        <a:rPr lang="es-ES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𝑯𝒐𝒓𝒂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=$ 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712.50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E3E506C9-6529-B4E0-39F9-EC301E92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77" y="5500287"/>
                <a:ext cx="4201997" cy="127978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ángulo: esquinas redondeadas 4">
                <a:extLst>
                  <a:ext uri="{FF2B5EF4-FFF2-40B4-BE49-F238E27FC236}">
                    <a16:creationId xmlns:a16="http://schemas.microsoft.com/office/drawing/2014/main" id="{3F94CAF0-6911-AC37-257A-6FBE46393F31}"/>
                  </a:ext>
                </a:extLst>
              </p:cNvPr>
              <p:cNvSpPr/>
              <p:nvPr/>
            </p:nvSpPr>
            <p:spPr>
              <a:xfrm>
                <a:off x="1504240" y="3424100"/>
                <a:ext cx="2133600" cy="97536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𝑪𝑯𝑯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𝑲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𝑻𝑯𝑷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𝟒𝟒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𝟔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𝟐𝟓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𝟗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.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𝟎𝟎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$/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𝑯𝒐𝒓𝒂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5" name="Rectángulo: esquinas redondeadas 4">
                <a:extLst>
                  <a:ext uri="{FF2B5EF4-FFF2-40B4-BE49-F238E27FC236}">
                    <a16:creationId xmlns:a16="http://schemas.microsoft.com/office/drawing/2014/main" id="{3F94CAF0-6911-AC37-257A-6FBE46393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240" y="3424100"/>
                <a:ext cx="2133600" cy="975360"/>
              </a:xfrm>
              <a:prstGeom prst="roundRect">
                <a:avLst/>
              </a:prstGeom>
              <a:blipFill>
                <a:blip r:embed="rId5"/>
                <a:stretch>
                  <a:fillRect b="-61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lecha: a la derecha con bandas 5">
            <a:extLst>
              <a:ext uri="{FF2B5EF4-FFF2-40B4-BE49-F238E27FC236}">
                <a16:creationId xmlns:a16="http://schemas.microsoft.com/office/drawing/2014/main" id="{75A1B940-D573-7650-9259-E768A4706C8A}"/>
              </a:ext>
            </a:extLst>
          </p:cNvPr>
          <p:cNvSpPr/>
          <p:nvPr/>
        </p:nvSpPr>
        <p:spPr>
          <a:xfrm rot="722988">
            <a:off x="3469905" y="4166521"/>
            <a:ext cx="2111613" cy="604592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3928F5CE-6744-223A-99BC-71455B5440F4}"/>
                  </a:ext>
                </a:extLst>
              </p:cNvPr>
              <p:cNvSpPr/>
              <p:nvPr/>
            </p:nvSpPr>
            <p:spPr>
              <a:xfrm>
                <a:off x="633418" y="2228504"/>
                <a:ext cx="4221215" cy="1091052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𝑬𝑻</m:t>
                      </m:r>
                      <m:r>
                        <a:rPr lang="nl-NL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𝑬𝑬𝑯𝑯</m:t>
                          </m:r>
                        </m:num>
                        <m:den>
                          <m:r>
                            <a:rPr lang="nl-NL" sz="1800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𝟒𝟎</m:t>
                          </m:r>
                          <m:r>
                            <a:rPr lang="nl-NL" sz="1800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%</m:t>
                          </m:r>
                        </m:den>
                      </m:f>
                      <m:r>
                        <a:rPr lang="nl-NL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es-ES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s-E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𝟏</m:t>
                          </m:r>
                          <m:r>
                            <a:rPr lang="es-E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s-ES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𝟑𝟔𝟓</m:t>
                          </m:r>
                        </m:num>
                        <m:den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𝟎</m:t>
                          </m:r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.</m:t>
                          </m:r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𝟒</m:t>
                          </m:r>
                        </m:den>
                      </m:f>
                      <m:r>
                        <a:rPr lang="es-ES" sz="1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𝟒𝟏𝟐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𝟓𝟎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nl-NL" sz="1800" b="1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𝑯</m:t>
                          </m:r>
                        </m:num>
                        <m:den>
                          <m:r>
                            <a:rPr lang="nl-NL" sz="1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𝑯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7" name="Rectángulo: esquinas redondeadas 6">
                <a:extLst>
                  <a:ext uri="{FF2B5EF4-FFF2-40B4-BE49-F238E27FC236}">
                    <a16:creationId xmlns:a16="http://schemas.microsoft.com/office/drawing/2014/main" id="{3928F5CE-6744-223A-99BC-71455B5440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8" y="2228504"/>
                <a:ext cx="4221215" cy="109105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echa: a la derecha con bandas 7">
            <a:extLst>
              <a:ext uri="{FF2B5EF4-FFF2-40B4-BE49-F238E27FC236}">
                <a16:creationId xmlns:a16="http://schemas.microsoft.com/office/drawing/2014/main" id="{9BD2674E-2CAD-2192-381C-9A6EE588E7F6}"/>
              </a:ext>
            </a:extLst>
          </p:cNvPr>
          <p:cNvSpPr/>
          <p:nvPr/>
        </p:nvSpPr>
        <p:spPr>
          <a:xfrm rot="2468890">
            <a:off x="4548170" y="3220173"/>
            <a:ext cx="1272613" cy="590307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B3DEE0D6-E974-1786-1641-54C749BD6E57}"/>
                  </a:ext>
                </a:extLst>
              </p:cNvPr>
              <p:cNvSpPr/>
              <p:nvPr/>
            </p:nvSpPr>
            <p:spPr>
              <a:xfrm>
                <a:off x="4280959" y="647540"/>
                <a:ext cx="2926080" cy="118017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𝑬𝑬𝑯𝑯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𝑷𝑪𝑼𝑨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𝑭𝑪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𝟗𝟏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×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𝟏𝟓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𝟏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𝟑𝟔𝟓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𝑯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/</m:t>
                      </m:r>
                      <m:r>
                        <a:rPr lang="es-ES" sz="1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𝑯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9" name="Rectángulo: esquinas redondeadas 8">
                <a:extLst>
                  <a:ext uri="{FF2B5EF4-FFF2-40B4-BE49-F238E27FC236}">
                    <a16:creationId xmlns:a16="http://schemas.microsoft.com/office/drawing/2014/main" id="{B3DEE0D6-E974-1786-1641-54C749BD6E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0959" y="647540"/>
                <a:ext cx="2926080" cy="1180171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: a la derecha con bandas 9">
            <a:extLst>
              <a:ext uri="{FF2B5EF4-FFF2-40B4-BE49-F238E27FC236}">
                <a16:creationId xmlns:a16="http://schemas.microsoft.com/office/drawing/2014/main" id="{F58524C8-701B-991A-0B39-D9C391A49DC7}"/>
              </a:ext>
            </a:extLst>
          </p:cNvPr>
          <p:cNvSpPr/>
          <p:nvPr/>
        </p:nvSpPr>
        <p:spPr>
          <a:xfrm rot="16200000">
            <a:off x="6508057" y="2518562"/>
            <a:ext cx="1729644" cy="498903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EB59E4-E368-34EC-C129-143048748AC7}"/>
              </a:ext>
            </a:extLst>
          </p:cNvPr>
          <p:cNvSpPr txBox="1"/>
          <p:nvPr/>
        </p:nvSpPr>
        <p:spPr>
          <a:xfrm>
            <a:off x="573820" y="4507745"/>
            <a:ext cx="2783905" cy="71508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Coeficiente de costos indirectos (K):</a:t>
            </a:r>
            <a:r>
              <a:rPr lang="es-ES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1.44</a:t>
            </a:r>
            <a:endParaRPr lang="es-E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9A11DED-A06D-0B59-9B80-EDE67C10CF81}"/>
                  </a:ext>
                </a:extLst>
              </p:cNvPr>
              <p:cNvSpPr txBox="1"/>
              <p:nvPr/>
            </p:nvSpPr>
            <p:spPr>
              <a:xfrm>
                <a:off x="7898678" y="862343"/>
                <a:ext cx="3921487" cy="708067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𝑷𝑪𝑼𝑨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𝑷𝑪𝑼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𝑭𝑪𝑻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𝑭𝑨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149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01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5×</m:t>
                    </m:r>
                    <m: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0.60</m:t>
                    </m:r>
                    <m:r>
                      <a:rPr lang="es-ES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𝟗𝟏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𝟒𝟗𝟕𝟏𝟕𝟓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≈</m:t>
                    </m:r>
                  </m:oMath>
                </a14:m>
                <a:r>
                  <a:rPr lang="es-ES" b="1" dirty="0">
                    <a:latin typeface="Cambria" panose="02040503050406030204" pitchFamily="18" charset="0"/>
                    <a:ea typeface="Cambria" panose="02040503050406030204" pitchFamily="18" charset="0"/>
                    <a:cs typeface="Arial" panose="020B0604020202020204" pitchFamily="34" charset="0"/>
                  </a:rPr>
                  <a:t> 91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9A11DED-A06D-0B59-9B80-EDE67C10C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78" y="862343"/>
                <a:ext cx="3921487" cy="708067"/>
              </a:xfrm>
              <a:prstGeom prst="roundRect">
                <a:avLst/>
              </a:prstGeom>
              <a:blipFill>
                <a:blip r:embed="rId8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EB6D918-6E8A-BEFA-D023-C414633AF902}"/>
                  </a:ext>
                </a:extLst>
              </p:cNvPr>
              <p:cNvSpPr txBox="1"/>
              <p:nvPr/>
            </p:nvSpPr>
            <p:spPr>
              <a:xfrm>
                <a:off x="9898631" y="1701318"/>
                <a:ext cx="2050298" cy="100751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𝑭𝑨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=1.4−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0.03×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𝟔𝟎𝟓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EB6D918-6E8A-BEFA-D023-C414633AF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98631" y="1701318"/>
                <a:ext cx="2050298" cy="100751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AE3153C-5FBB-D6BB-C14E-CA82E56DAEE9}"/>
                  </a:ext>
                </a:extLst>
              </p:cNvPr>
              <p:cNvSpPr txBox="1"/>
              <p:nvPr/>
            </p:nvSpPr>
            <p:spPr>
              <a:xfrm>
                <a:off x="7789779" y="1699465"/>
                <a:ext cx="2050299" cy="100751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𝑭𝑪𝑻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=0.6+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0.01×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41.5)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𝟎𝟏</m:t>
                      </m:r>
                      <m:r>
                        <a:rPr lang="es-ES" b="1" i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2" name="CuadroTexto 21">
                <a:extLst>
                  <a:ext uri="{FF2B5EF4-FFF2-40B4-BE49-F238E27FC236}">
                    <a16:creationId xmlns:a16="http://schemas.microsoft.com/office/drawing/2014/main" id="{DAE3153C-5FBB-D6BB-C14E-CA82E56DA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9779" y="1699465"/>
                <a:ext cx="2050299" cy="100751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E3A6C23-EB1F-6355-E73C-FA7449A23D56}"/>
                  </a:ext>
                </a:extLst>
              </p:cNvPr>
              <p:cNvSpPr txBox="1"/>
              <p:nvPr/>
            </p:nvSpPr>
            <p:spPr>
              <a:xfrm>
                <a:off x="7898678" y="2831491"/>
                <a:ext cx="3921487" cy="708067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𝑷𝑪𝑼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𝑭𝑷𝑨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𝑭𝑷𝑪𝑼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𝟏𝟒𝟗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E3A6C23-EB1F-6355-E73C-FA7449A23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78" y="2831491"/>
                <a:ext cx="3921487" cy="708067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99B2087-6246-85F3-5339-070AF2EB8049}"/>
                  </a:ext>
                </a:extLst>
              </p:cNvPr>
              <p:cNvSpPr txBox="1"/>
              <p:nvPr/>
            </p:nvSpPr>
            <p:spPr>
              <a:xfrm>
                <a:off x="7898678" y="3597027"/>
                <a:ext cx="1556035" cy="708067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𝑭𝑷𝑨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∗3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199B2087-6246-85F3-5339-070AF2EB80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8678" y="3597027"/>
                <a:ext cx="1556035" cy="708067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lecha: a la derecha con bandas 26">
            <a:extLst>
              <a:ext uri="{FF2B5EF4-FFF2-40B4-BE49-F238E27FC236}">
                <a16:creationId xmlns:a16="http://schemas.microsoft.com/office/drawing/2014/main" id="{2B2B8C23-3D73-168C-A5EE-B657B667B624}"/>
              </a:ext>
            </a:extLst>
          </p:cNvPr>
          <p:cNvSpPr/>
          <p:nvPr/>
        </p:nvSpPr>
        <p:spPr>
          <a:xfrm rot="10800000">
            <a:off x="6861729" y="853679"/>
            <a:ext cx="928051" cy="498903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A2D8D3D-E28B-FE23-0952-CD57EFB2FD79}"/>
                  </a:ext>
                </a:extLst>
              </p:cNvPr>
              <p:cNvSpPr txBox="1"/>
              <p:nvPr/>
            </p:nvSpPr>
            <p:spPr>
              <a:xfrm>
                <a:off x="9530151" y="3589355"/>
                <a:ext cx="2290014" cy="1606397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𝑭𝑷𝑪𝑼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12</m:t>
                      </m:r>
                      <m:d>
                        <m:dPr>
                          <m:ctrlPr>
                            <a:rPr lang="es-E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s-E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8</m:t>
                      </m:r>
                      <m:d>
                        <m:dPr>
                          <m:ctrlPr>
                            <a:rPr lang="es-E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s-E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s-E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</m:d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0" smtClean="0">
                          <a:latin typeface="Cambria Math" panose="02040503050406030204" pitchFamily="18" charset="0"/>
                        </a:rPr>
                        <m:t>𝟏𝟒</m:t>
                      </m:r>
                      <m:r>
                        <a:rPr lang="es-ES" b="1" i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A2D8D3D-E28B-FE23-0952-CD57EFB2F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0151" y="3589355"/>
                <a:ext cx="2290014" cy="1606397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919EF1AA-A1BB-2D68-3D27-4CB8B793C8A6}"/>
                  </a:ext>
                </a:extLst>
              </p:cNvPr>
              <p:cNvSpPr txBox="1"/>
              <p:nvPr/>
            </p:nvSpPr>
            <p:spPr>
              <a:xfrm>
                <a:off x="91326" y="5735810"/>
                <a:ext cx="3990851" cy="1002828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𝑻𝑯𝑷</m:t>
                      </m:r>
                      <m:r>
                        <a:rPr lang="es-ES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$</m:t>
                          </m:r>
                          <m:r>
                            <a:rPr lang="es-E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1,000</m:t>
                          </m:r>
                        </m:num>
                        <m:den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160 </m:t>
                          </m:r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𝒉𝒐𝒓𝒂𝒔</m:t>
                          </m:r>
                          <m:r>
                            <a:rPr lang="es-ES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𝒎𝒆𝒏𝒔𝒖𝒂𝒍𝒆𝒔</m:t>
                          </m:r>
                        </m:den>
                      </m:f>
                      <m:r>
                        <a:rPr lang="es-ES" b="0" i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s-ES" b="1" i="0">
                          <a:latin typeface="Cambria Math" panose="02040503050406030204" pitchFamily="18" charset="0"/>
                        </a:rPr>
                        <m:t>$</m:t>
                      </m:r>
                      <m:f>
                        <m:fPr>
                          <m:type m:val="lin"/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1" i="0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s-ES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s-ES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𝒐𝒓𝒂𝒔</m:t>
                          </m:r>
                        </m:den>
                      </m:f>
                      <m:r>
                        <a:rPr lang="es-ES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919EF1AA-A1BB-2D68-3D27-4CB8B793C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6" y="5735810"/>
                <a:ext cx="3990851" cy="1002828"/>
              </a:xfrm>
              <a:prstGeom prst="roundRect">
                <a:avLst/>
              </a:prstGeom>
              <a:blipFill>
                <a:blip r:embed="rId14"/>
                <a:stretch>
                  <a:fillRect b="-5903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Flecha: a la derecha con bandas 33">
            <a:extLst>
              <a:ext uri="{FF2B5EF4-FFF2-40B4-BE49-F238E27FC236}">
                <a16:creationId xmlns:a16="http://schemas.microsoft.com/office/drawing/2014/main" id="{7CA863A3-547D-7EE3-C4E8-8006158E13EF}"/>
              </a:ext>
            </a:extLst>
          </p:cNvPr>
          <p:cNvSpPr/>
          <p:nvPr/>
        </p:nvSpPr>
        <p:spPr>
          <a:xfrm rot="13163322">
            <a:off x="7039030" y="5098155"/>
            <a:ext cx="996692" cy="590307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190B3E0-DC58-9A6E-DAE7-73D257F5AC8D}"/>
              </a:ext>
            </a:extLst>
          </p:cNvPr>
          <p:cNvSpPr txBox="1"/>
          <p:nvPr/>
        </p:nvSpPr>
        <p:spPr>
          <a:xfrm>
            <a:off x="838445" y="1846642"/>
            <a:ext cx="2519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1800" i="1" u="sng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Implementación (40%)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3BC15A8-3D6E-DA36-86F7-14C49AADCA8B}"/>
              </a:ext>
            </a:extLst>
          </p:cNvPr>
          <p:cNvSpPr txBox="1"/>
          <p:nvPr/>
        </p:nvSpPr>
        <p:spPr>
          <a:xfrm>
            <a:off x="155392" y="5285266"/>
            <a:ext cx="5264021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  <a:spcBef>
                <a:spcPts val="200"/>
              </a:spcBef>
            </a:pPr>
            <a:r>
              <a:rPr lang="es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160 horas/mes (8h/día x 4 semanas x 5 días)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lecha: a la derecha con bandas 2">
            <a:extLst>
              <a:ext uri="{FF2B5EF4-FFF2-40B4-BE49-F238E27FC236}">
                <a16:creationId xmlns:a16="http://schemas.microsoft.com/office/drawing/2014/main" id="{EC089442-B8FE-FC63-6A5F-73F99BF0D535}"/>
              </a:ext>
            </a:extLst>
          </p:cNvPr>
          <p:cNvSpPr/>
          <p:nvPr/>
        </p:nvSpPr>
        <p:spPr>
          <a:xfrm rot="8099887">
            <a:off x="4200172" y="1842359"/>
            <a:ext cx="928051" cy="498903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Flecha: a la derecha con bandas 12">
            <a:extLst>
              <a:ext uri="{FF2B5EF4-FFF2-40B4-BE49-F238E27FC236}">
                <a16:creationId xmlns:a16="http://schemas.microsoft.com/office/drawing/2014/main" id="{EEFC0803-BF41-1B7B-61F9-02DE3B68BE6F}"/>
              </a:ext>
            </a:extLst>
          </p:cNvPr>
          <p:cNvSpPr/>
          <p:nvPr/>
        </p:nvSpPr>
        <p:spPr>
          <a:xfrm>
            <a:off x="3418527" y="1131629"/>
            <a:ext cx="928051" cy="498903"/>
          </a:xfrm>
          <a:prstGeom prst="stripedRightArrow">
            <a:avLst>
              <a:gd name="adj1" fmla="val 43398"/>
              <a:gd name="adj2" fmla="val 12262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2719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28A7332D-5542-4FF8-E012-478309F47B32}"/>
              </a:ext>
            </a:extLst>
          </p:cNvPr>
          <p:cNvSpPr txBox="1"/>
          <p:nvPr/>
        </p:nvSpPr>
        <p:spPr>
          <a:xfrm>
            <a:off x="627729" y="3591414"/>
            <a:ext cx="11201414" cy="233610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Aporte a la tesis: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Estandariza la planificación: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Utiliza metodologías reconocidas (UCP de Karner) para garantizar transparencia.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s-ES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Optimiza recursos:</a:t>
            </a:r>
            <a:r>
              <a:rPr kumimoji="0" lang="es-ES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Permite ajustar plazos aumentando el equipo sin incrementar costos.</a:t>
            </a:r>
            <a:endParaRPr lang="es-ES" altLang="es-MX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s-MX" altLang="es-MX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Valida viabilidad:</a:t>
            </a:r>
            <a:r>
              <a:rPr kumimoji="0" lang="es-MX" altLang="es-MX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US" dirty="0"/>
              <a:t>Demuestra que el proyecto puede completarse en un poco más de 7 meses con un equipo de 2 personas y un presupuesto de </a:t>
            </a:r>
            <a:r>
              <a:rPr lang="es-US" b="1" dirty="0"/>
              <a:t>$ 30,712.50</a:t>
            </a:r>
            <a:r>
              <a:rPr lang="es-US" dirty="0"/>
              <a:t>.</a:t>
            </a:r>
            <a:endParaRPr lang="es-ES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38ACD66-A7D8-16D9-1A60-5A00F803D802}"/>
              </a:ext>
            </a:extLst>
          </p:cNvPr>
          <p:cNvGraphicFramePr>
            <a:graphicFrameLocks noGrp="1"/>
          </p:cNvGraphicFramePr>
          <p:nvPr/>
        </p:nvGraphicFramePr>
        <p:xfrm>
          <a:off x="631345" y="643051"/>
          <a:ext cx="11197798" cy="2854369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332541">
                  <a:extLst>
                    <a:ext uri="{9D8B030D-6E8A-4147-A177-3AD203B41FA5}">
                      <a16:colId xmlns:a16="http://schemas.microsoft.com/office/drawing/2014/main" val="3809096574"/>
                    </a:ext>
                  </a:extLst>
                </a:gridCol>
                <a:gridCol w="1556384">
                  <a:extLst>
                    <a:ext uri="{9D8B030D-6E8A-4147-A177-3AD203B41FA5}">
                      <a16:colId xmlns:a16="http://schemas.microsoft.com/office/drawing/2014/main" val="3597385386"/>
                    </a:ext>
                  </a:extLst>
                </a:gridCol>
                <a:gridCol w="5308873">
                  <a:extLst>
                    <a:ext uri="{9D8B030D-6E8A-4147-A177-3AD203B41FA5}">
                      <a16:colId xmlns:a16="http://schemas.microsoft.com/office/drawing/2014/main" val="1100854771"/>
                    </a:ext>
                  </a:extLst>
                </a:gridCol>
              </a:tblGrid>
              <a:tr h="2382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Conceptos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Valor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Explicación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4976346"/>
                  </a:ext>
                </a:extLst>
              </a:tr>
              <a:tr h="49678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Puntos de Casos de Uso (sin ajustar) (PCUs)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149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Estimación inicial basada en actores y casos de uso.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9072269"/>
                  </a:ext>
                </a:extLst>
              </a:tr>
              <a:tr h="43542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de Complejidad Técnica (FCT)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1.015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Impacto de 13 Factores Técnicos en la complejidad del sistema.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669095"/>
                  </a:ext>
                </a:extLst>
              </a:tr>
              <a:tr h="27577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Factor de Ambiente (FA)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0.605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Influencia de 8 Factores Ambientales en la productividad.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519033"/>
                  </a:ext>
                </a:extLst>
              </a:tr>
              <a:tr h="29028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Puntos de Casos de Uso Ajustados (PCUA)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91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PCUs ajustados por complejidad técnica y ambiente.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359784"/>
                  </a:ext>
                </a:extLst>
              </a:tr>
              <a:tr h="15965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Esfuerzo Total (ET)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3,412.50 H/H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Horas-hombre requeridas para todas las etapas del proyecto.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355208"/>
                  </a:ext>
                </a:extLst>
              </a:tr>
              <a:tr h="263207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Tiempo de Desarrollo (TDES)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2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1,706.25 Horas</a:t>
                      </a:r>
                      <a:endParaRPr lang="es-ES" sz="12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Duración con 2 desarrolladores (≈213 días).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521089"/>
                  </a:ext>
                </a:extLst>
              </a:tr>
              <a:tr h="509950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 Total (CT)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s-US" sz="14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$ 30,712.50</a:t>
                      </a:r>
                      <a:endParaRPr lang="es-ES" sz="14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rial" panose="020B060402020202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buNone/>
                      </a:pPr>
                      <a:r>
                        <a:rPr lang="es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Costo monetario total, incluyendo salarios y gastos indirectos.</a:t>
                      </a:r>
                      <a:endParaRPr lang="es-MX" sz="1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7935" marR="6793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024664"/>
                  </a:ext>
                </a:extLst>
              </a:tr>
            </a:tbl>
          </a:graphicData>
        </a:graphic>
      </p:graphicFrame>
      <p:sp>
        <p:nvSpPr>
          <p:cNvPr id="10" name="Rectangle 11">
            <a:extLst>
              <a:ext uri="{FF2B5EF4-FFF2-40B4-BE49-F238E27FC236}">
                <a16:creationId xmlns:a16="http://schemas.microsoft.com/office/drawing/2014/main" id="{E89290AB-8B36-2046-9E8A-BE71A272F086}"/>
              </a:ext>
            </a:extLst>
          </p:cNvPr>
          <p:cNvSpPr/>
          <p:nvPr/>
        </p:nvSpPr>
        <p:spPr>
          <a:xfrm>
            <a:off x="4359725" y="181386"/>
            <a:ext cx="3238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Tabla Resumen Final</a:t>
            </a:r>
          </a:p>
        </p:txBody>
      </p:sp>
    </p:spTree>
    <p:extLst>
      <p:ext uri="{BB962C8B-B14F-4D97-AF65-F5344CB8AC3E}">
        <p14:creationId xmlns:p14="http://schemas.microsoft.com/office/powerpoint/2010/main" val="3354332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3931-C1F5-7EAF-493F-2089D7B9C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4233F7E-0D54-B5F4-9EBC-DCBFA7787910}"/>
              </a:ext>
            </a:extLst>
          </p:cNvPr>
          <p:cNvSpPr/>
          <p:nvPr/>
        </p:nvSpPr>
        <p:spPr>
          <a:xfrm>
            <a:off x="2066788" y="195901"/>
            <a:ext cx="80584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Diagrama de Secuencias Casos de Uso del Autenticar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5ED627-E0A4-80DE-83E9-4EE8EA3ED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0" y="748017"/>
            <a:ext cx="10810240" cy="510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2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BC638-26D2-14FE-B823-7AB030B8D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5A9ABE-64A0-EC35-EA9F-FEF95EEE10B7}"/>
              </a:ext>
            </a:extLst>
          </p:cNvPr>
          <p:cNvSpPr/>
          <p:nvPr/>
        </p:nvSpPr>
        <p:spPr>
          <a:xfrm>
            <a:off x="2183711" y="177486"/>
            <a:ext cx="7824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Diagrama de Modelo de Despliegue de Servidor - BD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4BEDCCE-0E62-7017-2CBE-2576457A4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8557" y="641592"/>
            <a:ext cx="10037135" cy="515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419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4876F-1DFB-28FF-1994-F5FE92C6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5279D23-9952-D571-A57D-71529141D0EE}"/>
              </a:ext>
            </a:extLst>
          </p:cNvPr>
          <p:cNvSpPr/>
          <p:nvPr/>
        </p:nvSpPr>
        <p:spPr>
          <a:xfrm>
            <a:off x="875606" y="197151"/>
            <a:ext cx="9861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Inicio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D6A366B-AF44-CC92-FF02-A7FFACC461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5" y="619485"/>
            <a:ext cx="10628707" cy="521235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2F89F6C-968D-1A35-6470-65AFF06A6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895" y="1390693"/>
            <a:ext cx="3853234" cy="404088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C434BD-C310-AC8E-885F-5A4ED715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1545" y="1059079"/>
            <a:ext cx="2756792" cy="437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8DDA-3249-3FD9-2D1A-8AC733CD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D360E7B-F699-ECE5-CAF0-29A14A9D73B9}"/>
              </a:ext>
            </a:extLst>
          </p:cNvPr>
          <p:cNvSpPr/>
          <p:nvPr/>
        </p:nvSpPr>
        <p:spPr>
          <a:xfrm>
            <a:off x="875606" y="197151"/>
            <a:ext cx="1433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Registro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887FBDB-486D-391A-E10F-F0B0668DC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06" y="630493"/>
            <a:ext cx="10440788" cy="51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150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1EEDD-75FA-3ECE-BDCA-BEDE0E83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FA4A844-5BE0-5491-7624-9A9371EC93D9}"/>
              </a:ext>
            </a:extLst>
          </p:cNvPr>
          <p:cNvSpPr/>
          <p:nvPr/>
        </p:nvSpPr>
        <p:spPr>
          <a:xfrm>
            <a:off x="875606" y="197151"/>
            <a:ext cx="48205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s-E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Acceso al Usuarios </a:t>
            </a: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del Sistema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A0BC52-E0B6-4393-99D4-D8F2AEEA7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4" y="657889"/>
            <a:ext cx="10781415" cy="517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097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01C4-3D96-88B2-48A5-51301389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CEE311-C6F2-FBDB-31D8-658A6DEDD243}"/>
              </a:ext>
            </a:extLst>
          </p:cNvPr>
          <p:cNvSpPr/>
          <p:nvPr/>
        </p:nvSpPr>
        <p:spPr>
          <a:xfrm>
            <a:off x="4173839" y="195987"/>
            <a:ext cx="38443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Dashboard 4K. Usuarios.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B530B79-0CD7-31D0-BA9D-CAC6C11E6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657652"/>
            <a:ext cx="10810240" cy="51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61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E2CB-C86F-C3B4-FB0A-6B9BF3EF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F3C8C44-2E13-84C3-C9F8-44432651BFF2}"/>
              </a:ext>
            </a:extLst>
          </p:cNvPr>
          <p:cNvSpPr/>
          <p:nvPr/>
        </p:nvSpPr>
        <p:spPr>
          <a:xfrm>
            <a:off x="875606" y="197151"/>
            <a:ext cx="7077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Acceso al Listado de Profesores Determinados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518F07-7685-7BB1-0E59-77BA22D3D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5" y="663871"/>
            <a:ext cx="10802678" cy="51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46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969CF-5EBA-9CF5-B762-88D21BE39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499C304-D0F3-DC07-A82C-2AB9916E1BF6}"/>
              </a:ext>
            </a:extLst>
          </p:cNvPr>
          <p:cNvSpPr/>
          <p:nvPr/>
        </p:nvSpPr>
        <p:spPr>
          <a:xfrm>
            <a:off x="875606" y="197151"/>
            <a:ext cx="85988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Acceso al Listado de Profesores por Sobrecarga Docente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D27F6E-03AC-9A80-4082-6FDE5D2B3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84" y="663870"/>
            <a:ext cx="10845209" cy="511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14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EC41-65BF-A0F5-1620-B5BA0D65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CA430A-359B-F818-EFC2-EA227E8307A2}"/>
              </a:ext>
            </a:extLst>
          </p:cNvPr>
          <p:cNvSpPr/>
          <p:nvPr/>
        </p:nvSpPr>
        <p:spPr>
          <a:xfrm>
            <a:off x="4010331" y="389105"/>
            <a:ext cx="41713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Dashboard 4K. Profesores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03266B-B8E5-A4EF-93D2-92A9DC6F4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14" y="850770"/>
            <a:ext cx="10823171" cy="478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03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63B6-6576-71F0-74F2-AF5560043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1">
            <a:extLst>
              <a:ext uri="{FF2B5EF4-FFF2-40B4-BE49-F238E27FC236}">
                <a16:creationId xmlns:a16="http://schemas.microsoft.com/office/drawing/2014/main" id="{72938901-6982-449B-3855-83926FFB32C4}"/>
              </a:ext>
            </a:extLst>
          </p:cNvPr>
          <p:cNvSpPr/>
          <p:nvPr/>
        </p:nvSpPr>
        <p:spPr>
          <a:xfrm>
            <a:off x="4558145" y="223913"/>
            <a:ext cx="3075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Conclusiones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FECE7-ED95-1622-F316-1B2D9B9DB56F}"/>
              </a:ext>
            </a:extLst>
          </p:cNvPr>
          <p:cNvSpPr txBox="1"/>
          <p:nvPr/>
        </p:nvSpPr>
        <p:spPr>
          <a:xfrm>
            <a:off x="694663" y="685578"/>
            <a:ext cx="10802679" cy="10209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Fundamento Teórico Alcanzado: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 través de una revisión exhaustiva de la literatura, se estableció un marco teórico sólido que identificó lagunas en la gestión de contratos y pagos, proporcionando una base para el desarrollo del sistema.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C6F9CB-5A15-2FF4-DBAE-1FACA0515707}"/>
              </a:ext>
            </a:extLst>
          </p:cNvPr>
          <p:cNvSpPr txBox="1"/>
          <p:nvPr/>
        </p:nvSpPr>
        <p:spPr>
          <a:xfrm>
            <a:off x="694664" y="1715347"/>
            <a:ext cx="10802678" cy="702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Rigor Metodológico: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análisis de los procesos actuales del departamento permitió identificar fortalezas, debilidades y oportunidades de mejora, lo que orientó el diseño y desarrollo del sistema.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19D3853-CF6B-2510-DCD4-5146DED931BE}"/>
              </a:ext>
            </a:extLst>
          </p:cNvPr>
          <p:cNvSpPr txBox="1"/>
          <p:nvPr/>
        </p:nvSpPr>
        <p:spPr>
          <a:xfrm>
            <a:off x="694663" y="2417719"/>
            <a:ext cx="10802677" cy="10209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Diseño de Soluciones Centrado en el Usuario: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modelado del sistema priorizó las necesidades de los usuarios, asegurando que los requisitos funcionales y no funcionales se alinearan con las demandas operativas reales.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205A2F-1397-F042-D433-13E3E74C9595}"/>
              </a:ext>
            </a:extLst>
          </p:cNvPr>
          <p:cNvSpPr txBox="1"/>
          <p:nvPr/>
        </p:nvSpPr>
        <p:spPr>
          <a:xfrm>
            <a:off x="694662" y="3447488"/>
            <a:ext cx="10802679" cy="10209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s-E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Viabilidad Operativa: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sistema fue desarrollado con tecnologías modernas (Flutter Web, Node.js, MongoDB) y diseñado para integrarse al entorno operativo existente, cumpliendo con estándares de calidad y sostenibilidad.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F4024D0-A068-E7DA-DE1B-E83A3F4940BC}"/>
              </a:ext>
            </a:extLst>
          </p:cNvPr>
          <p:cNvSpPr txBox="1"/>
          <p:nvPr/>
        </p:nvSpPr>
        <p:spPr>
          <a:xfrm>
            <a:off x="694661" y="4477257"/>
            <a:ext cx="10802677" cy="711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Validación de Efectividad: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pruebas con datos reales confirmaron la funcionalidad y efectividad del sistema, demostrando su capacidad para gestionar contratos y pagos de manera eficiente.</a:t>
            </a:r>
            <a:endParaRPr lang="es-E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24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uiExpand="1" build="p" animBg="1"/>
      <p:bldP spid="8" grpId="0" uiExpand="1" build="p" animBg="1"/>
      <p:bldP spid="9" grpId="0" uiExpand="1" build="p" animBg="1"/>
      <p:bldP spid="10" grpId="0" uiExpand="1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5EFE7-31B3-559A-1C33-F1419A09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09D6345-4ED2-D8E3-90E1-136B198FC4E9}"/>
              </a:ext>
            </a:extLst>
          </p:cNvPr>
          <p:cNvSpPr/>
          <p:nvPr/>
        </p:nvSpPr>
        <p:spPr>
          <a:xfrm>
            <a:off x="4558145" y="223913"/>
            <a:ext cx="30757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Recomendaciones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49AD6A5-A107-F3AF-D001-9120C286F69B}"/>
              </a:ext>
            </a:extLst>
          </p:cNvPr>
          <p:cNvSpPr txBox="1"/>
          <p:nvPr/>
        </p:nvSpPr>
        <p:spPr>
          <a:xfrm>
            <a:off x="540875" y="685578"/>
            <a:ext cx="11110250" cy="50783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Se proponen las siguientes recomendaciones para fortalecer el sistema y garantizar su continuidad operativa: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Implementación de Backups Automáticos: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Establecer un sistema de respaldos automáticos para proteger la información sensible y garantizar su disponibilidad.</a:t>
            </a: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Configurar respaldos regulares almacenados en servidores seguros o en la nube, minimizando el riesgo de pérdida de datos en caso de fallos del sistema.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Protección de Información Crítica: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Reforzar la seguridad mediante encriptación avanzada, control de acceso basado en roles (RBAC) y monitoreo continuo de las actividades del sistema.</a:t>
            </a: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Realizar auditorías periódicas para verificar la integridad y confidencialidad de los datos, asegurando el cumplimiento de normativas de protección de datos.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Recuperación Rápida de Datos: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Desarrollar un plan de recuperación de desastres que permita restaurar los datos en menos de una hora en caso de fallos del sistema.</a:t>
            </a:r>
          </a:p>
          <a:p>
            <a:pPr marL="361950" lvl="1" indent="-361950" algn="just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Realizar pruebas periódicas del plan de recuperación para garantizar su efectividad y capacitar al personal en su ejecución.</a:t>
            </a:r>
          </a:p>
          <a:p>
            <a:pPr algn="just"/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Buscando mejorar la robustez del sistema y garantizar la seguridad de los datos</a:t>
            </a:r>
            <a:r>
              <a:rPr lang="es-ES" b="1" kern="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26425226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E4D9-9306-06B0-E137-1DCF089F1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A82DD29-9673-5AFF-3C14-5FD30770F563}"/>
              </a:ext>
            </a:extLst>
          </p:cNvPr>
          <p:cNvSpPr/>
          <p:nvPr/>
        </p:nvSpPr>
        <p:spPr>
          <a:xfrm>
            <a:off x="1944863" y="2505670"/>
            <a:ext cx="83022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0" lang="es-ES" sz="5400" b="1" i="0" u="none" strike="noStrike" kern="1200" cap="none" spc="0" normalizeH="0" baseline="0" noProof="0" dirty="0">
                <a:ln w="13462">
                  <a:solidFill>
                    <a:schemeClr val="bg1"/>
                  </a:solidFill>
                  <a:prstDash val="solid"/>
                </a:ln>
                <a:blipFill>
                  <a:blip r:embed="rId3"/>
                  <a:tile tx="0" ty="0" sx="100000" sy="100000" flip="none" algn="tl"/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“¡Gracias! ¿Preguntas?”</a:t>
            </a:r>
            <a:endParaRPr lang="es-ES" sz="5400" b="1" cap="none" spc="0" dirty="0">
              <a:ln w="13462">
                <a:solidFill>
                  <a:schemeClr val="bg1"/>
                </a:solidFill>
                <a:prstDash val="solid"/>
              </a:ln>
              <a:blipFill>
                <a:blip r:embed="rId3"/>
                <a:tile tx="0" ty="0" sx="100000" sy="100000" flip="none" algn="tl"/>
              </a:blip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7409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73651-9ADF-A61F-1E8C-5496B218F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0515600" cy="124532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1.  ¿Cómo maneja el sistema situaciones de conectividad intermitente, especialmente considerando que fue diseñado para zonas con baja infraestructura tecnológica?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081F984-00EB-9DAD-185C-1F664CD25F06}"/>
              </a:ext>
            </a:extLst>
          </p:cNvPr>
          <p:cNvSpPr txBox="1"/>
          <p:nvPr/>
        </p:nvSpPr>
        <p:spPr>
          <a:xfrm>
            <a:off x="3855629" y="498474"/>
            <a:ext cx="4436878" cy="57888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Preguntas del Oponente</a:t>
            </a:r>
            <a:endParaRPr lang="es-ES" sz="2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3437836-2E52-B386-22C2-0689342B454C}"/>
              </a:ext>
            </a:extLst>
          </p:cNvPr>
          <p:cNvSpPr txBox="1"/>
          <p:nvPr/>
        </p:nvSpPr>
        <p:spPr>
          <a:xfrm>
            <a:off x="860129" y="2670899"/>
            <a:ext cx="10471740" cy="91940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2. ¿Qué criterios se tomaron para seleccionar la metodología RUP frente a metodologías ágiles más modernas como Scrum?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FEA24C-F67B-73CA-236C-32A453E41E70}"/>
              </a:ext>
            </a:extLst>
          </p:cNvPr>
          <p:cNvSpPr txBox="1"/>
          <p:nvPr/>
        </p:nvSpPr>
        <p:spPr>
          <a:xfrm>
            <a:off x="838199" y="3766275"/>
            <a:ext cx="10471739" cy="91940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3. ¿Por qué se eligió MongoDB como gestor de base de datos y no una base relacional como MySQL o PostgreSQL?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ADA645B-C676-2279-CB85-76DC47427AF2}"/>
              </a:ext>
            </a:extLst>
          </p:cNvPr>
          <p:cNvSpPr txBox="1"/>
          <p:nvPr/>
        </p:nvSpPr>
        <p:spPr>
          <a:xfrm>
            <a:off x="838199" y="4857924"/>
            <a:ext cx="10515600" cy="91940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4. ¿Qué mecanismos de seguridad implementó en la aplicación informática para proteger los datos sensibles?</a:t>
            </a:r>
          </a:p>
        </p:txBody>
      </p:sp>
    </p:spTree>
    <p:extLst>
      <p:ext uri="{BB962C8B-B14F-4D97-AF65-F5344CB8AC3E}">
        <p14:creationId xmlns:p14="http://schemas.microsoft.com/office/powerpoint/2010/main" val="237218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animBg="1"/>
      <p:bldP spid="11" grpId="0" animBg="1"/>
      <p:bldP spid="13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17238</TotalTime>
  <Words>1812</Words>
  <Application>Microsoft Office PowerPoint</Application>
  <PresentationFormat>Panorámica</PresentationFormat>
  <Paragraphs>263</Paragraphs>
  <Slides>29</Slides>
  <Notes>25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29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Calibri Light</vt:lpstr>
      <vt:lpstr>Cambria</vt:lpstr>
      <vt:lpstr>Cambria Math</vt:lpstr>
      <vt:lpstr>Myriad Pro Cond</vt:lpstr>
      <vt:lpstr>quote-cjk-patch</vt:lpstr>
      <vt:lpstr>Wingdings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Yosvany Hernández Quintero</dc:creator>
  <cp:lastModifiedBy>Yosvany Hernández Quintero</cp:lastModifiedBy>
  <cp:revision>321</cp:revision>
  <dcterms:created xsi:type="dcterms:W3CDTF">2025-03-04T17:04:14Z</dcterms:created>
  <dcterms:modified xsi:type="dcterms:W3CDTF">2025-07-02T18:11:00Z</dcterms:modified>
</cp:coreProperties>
</file>